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25880"/>
            <a:ext cx="12191695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4F4E2"/>
                </a:solidFill>
                <a:latin typeface="Consolas"/>
              </a:rPr>
              <a:t>턴제 화학공정 타이쿤 · 공정 최적화 시뮬레이션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783080"/>
            <a:ext cx="12191695" cy="1371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E6F2EE"/>
                </a:solidFill>
                <a:latin typeface="Malgun Gothic"/>
              </a:rPr>
              <a:t>공정 타이쿤으로 배우는  </a:t>
            </a:r>
            <a:r>
              <a:rPr sz="4600" b="1">
                <a:solidFill>
                  <a:srgbClr val="2FE0C8"/>
                </a:solidFill>
                <a:latin typeface="Malgun Gothic"/>
              </a:rPr>
              <a:t>Python × 화학공학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63240"/>
            <a:ext cx="12191695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CE86"/>
                </a:solidFill>
                <a:latin typeface="Consolas"/>
              </a:rPr>
              <a:t>초산 + 에탄올 ⇌ 초산에틸 + 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11880"/>
            <a:ext cx="9448495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D9B94"/>
                </a:solidFill>
                <a:latin typeface="Malgun Gothic"/>
              </a:rPr>
              <a:t>반응기 온도 한 칸의 선택이 수율과 안전을 가른다.
코드 한 줄로 공정을 설계하고, 시뮬레이션으로 수율 99%에 도전한다.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06727" y="4983480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1C4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06727" y="4983480"/>
            <a:ext cx="274320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4F4E2"/>
                </a:solidFill>
                <a:latin typeface="Consolas"/>
              </a:rPr>
              <a:t>2학기 전공선택 · 3학점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4247" y="4983480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1C4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4247" y="4983480"/>
            <a:ext cx="274320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4F4E2"/>
                </a:solidFill>
                <a:latin typeface="Consolas"/>
              </a:rPr>
              <a:t>화학공학과 대상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41767" y="4983480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1C4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1767" y="4983480"/>
            <a:ext cx="274320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4F4E2"/>
                </a:solidFill>
                <a:latin typeface="Consolas"/>
              </a:rPr>
              <a:t>15주 · 주 3시간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F6B64"/>
                </a:solidFill>
                <a:latin typeface="Consolas"/>
              </a:rPr>
              <a:t>화학공학과 2학기 · AI시대 화학공정 타이쿤 · Python × 화학공학 융합 교육과정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84048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E0C8"/>
                </a:solidFill>
                <a:latin typeface="Consolas"/>
              </a:rPr>
              <a:t>신개념 교육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6F2EE"/>
                </a:solidFill>
                <a:latin typeface="Malgun Gothic"/>
              </a:rPr>
              <a:t>Python을 배우면서, </a:t>
            </a:r>
            <a:r>
              <a:rPr sz="3000" b="1">
                <a:solidFill>
                  <a:srgbClr val="FFB049"/>
                </a:solidFill>
                <a:latin typeface="Malgun Gothic"/>
              </a:rPr>
              <a:t>숫자를 의심할 줄 아는 엔지니어가 된다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5127" y="1691640"/>
            <a:ext cx="2743200" cy="2926080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5127" y="1691640"/>
            <a:ext cx="54864" cy="2926080"/>
          </a:xfrm>
          <a:prstGeom prst="rect">
            <a:avLst/>
          </a:prstGeom>
          <a:solidFill>
            <a:srgbClr val="FFB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447" y="1920240"/>
            <a:ext cx="2240280" cy="2560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6F2EE"/>
                </a:solidFill>
                <a:latin typeface="Malgun Gothic"/>
              </a:rPr>
              <a:t>DATA</a:t>
            </a:r>
          </a:p>
          <a:p>
            <a:pPr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250" b="0">
                <a:solidFill>
                  <a:srgbClr val="7D9B94"/>
                </a:solidFill>
                <a:latin typeface="Malgun Gothic"/>
              </a:rPr>
              <a:t>데이터를 만들고 · 재고 · 의심한다. AI는 없는 데이터를 만들지 못합니다. 무엇을 어떤 계기로 잴지 정하는 건 엔지니어입니다.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1100" b="1">
                <a:solidFill>
                  <a:srgbClr val="FFB049"/>
                </a:solidFill>
                <a:latin typeface="Consolas"/>
              </a:rPr>
              <a:t>석유를 캔다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61207" y="1691640"/>
            <a:ext cx="2743200" cy="2926080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61207" y="1691640"/>
            <a:ext cx="54864" cy="2926080"/>
          </a:xfrm>
          <a:prstGeom prst="rect">
            <a:avLst/>
          </a:prstGeom>
          <a:solidFill>
            <a:srgbClr val="4D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5527" y="1920240"/>
            <a:ext cx="2240280" cy="2560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6F2EE"/>
                </a:solidFill>
                <a:latin typeface="Malgun Gothic"/>
              </a:rPr>
              <a:t>코딩</a:t>
            </a:r>
          </a:p>
          <a:p>
            <a:pPr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250" b="0">
                <a:solidFill>
                  <a:srgbClr val="7D9B94"/>
                </a:solidFill>
                <a:latin typeface="Malgun Gothic"/>
              </a:rPr>
              <a:t>AI에게 무엇을 시킬지 정하고, 받은 코드를 읽는다. 읽지 못하는 코드는 쓸 수 없습니다.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1100" b="1">
                <a:solidFill>
                  <a:srgbClr val="4DB6FF"/>
                </a:solidFill>
                <a:latin typeface="Consolas"/>
              </a:rPr>
              <a:t>도구를 쥔다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1691640"/>
            <a:ext cx="2743200" cy="2926080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7287" y="1691640"/>
            <a:ext cx="54864" cy="2926080"/>
          </a:xfrm>
          <a:prstGeom prst="rect">
            <a:avLst/>
          </a:prstGeom>
          <a:solidFill>
            <a:srgbClr val="2F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7" y="1920240"/>
            <a:ext cx="2240280" cy="2560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6F2EE"/>
                </a:solidFill>
                <a:latin typeface="Malgun Gothic"/>
              </a:rPr>
              <a:t>분석</a:t>
            </a:r>
          </a:p>
          <a:p>
            <a:pPr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250" b="0">
                <a:solidFill>
                  <a:srgbClr val="7D9B94"/>
                </a:solidFill>
                <a:latin typeface="Malgun Gothic"/>
              </a:rPr>
              <a:t>나온 숫자가 맞는지 판단한다. AI는 그럴듯한 숫자를 아주 자신 있게 틀립니다.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1100" b="1">
                <a:solidFill>
                  <a:srgbClr val="2FE0C8"/>
                </a:solidFill>
                <a:latin typeface="Consolas"/>
              </a:rPr>
              <a:t>검산한다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13367" y="1691640"/>
            <a:ext cx="2743200" cy="2926080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13367" y="1691640"/>
            <a:ext cx="54864" cy="2926080"/>
          </a:xfrm>
          <a:prstGeom prst="rect">
            <a:avLst/>
          </a:prstGeom>
          <a:solidFill>
            <a:srgbClr val="B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87687" y="1920240"/>
            <a:ext cx="2240280" cy="2560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6F2EE"/>
                </a:solidFill>
                <a:latin typeface="Malgun Gothic"/>
              </a:rPr>
              <a:t>실무</a:t>
            </a:r>
          </a:p>
          <a:p>
            <a:pPr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250" b="0">
                <a:solidFill>
                  <a:srgbClr val="7D9B94"/>
                </a:solidFill>
                <a:latin typeface="Malgun Gothic"/>
              </a:rPr>
              <a:t>그 판단을 현장의 언어와 책임으로 옮긴다. 설비를 세울지 말지 결정하고 책임지는 것은 사람입니다.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1100" b="1">
                <a:solidFill>
                  <a:srgbClr val="B08CFF"/>
                </a:solidFill>
                <a:latin typeface="Consolas"/>
              </a:rPr>
              <a:t>책임진다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5127" y="4846320"/>
            <a:ext cx="11521440" cy="1417320"/>
          </a:xfrm>
          <a:prstGeom prst="roundRect">
            <a:avLst>
              <a:gd name="adj" fmla="val 5000"/>
            </a:avLst>
          </a:prstGeom>
          <a:solidFill>
            <a:srgbClr val="12281F"/>
          </a:solidFill>
          <a:ln w="12700">
            <a:solidFill>
              <a:srgbClr val="2C4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447" y="4983480"/>
            <a:ext cx="10972800" cy="11887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E6F2EE"/>
                </a:solidFill>
                <a:latin typeface="Malgun Gothic"/>
              </a:rPr>
              <a:t>데이터를 스스로 만들고, </a:t>
            </a:r>
            <a:r>
              <a:rPr sz="2100" b="1">
                <a:solidFill>
                  <a:srgbClr val="FFB049"/>
                </a:solidFill>
                <a:latin typeface="Malgun Gothic"/>
              </a:rPr>
              <a:t>그 숫자를 직접 계산해</a:t>
            </a:r>
            <a:r>
              <a:rPr sz="2100" b="1">
                <a:solidFill>
                  <a:srgbClr val="E6F2EE"/>
                </a:solidFill>
                <a:latin typeface="Malgun Gothic"/>
              </a:rPr>
              <a:t>  </a:t>
            </a:r>
            <a:r>
              <a:rPr sz="2100" b="1">
                <a:solidFill>
                  <a:srgbClr val="2FE0C8"/>
                </a:solidFill>
                <a:latin typeface="Malgun Gothic"/>
              </a:rPr>
              <a:t>의심할 줄 아는 엔지니어</a:t>
            </a:r>
            <a:r>
              <a:rPr sz="2100" b="1">
                <a:solidFill>
                  <a:srgbClr val="E6F2EE"/>
                </a:solidFill>
                <a:latin typeface="Malgun Gothic"/>
              </a:rPr>
              <a:t>가 된다</a:t>
            </a:r>
          </a:p>
          <a:p>
            <a:pPr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300" b="0">
                <a:solidFill>
                  <a:srgbClr val="7D9B94"/>
                </a:solidFill>
                <a:latin typeface="Malgun Gothic"/>
              </a:rPr>
              <a:t>AI가 코드를 대신 써 주는 시대에 엔지니어에게 남는 일이 이 넷입니다. 게임은 분석할 데이터를 만들어 내는 도구일 뿐, 목적이 아닙니다.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84048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E0C8"/>
                </a:solidFill>
                <a:latin typeface="Consolas"/>
              </a:rPr>
              <a:t>학습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6F2EE"/>
                </a:solidFill>
                <a:latin typeface="Malgun Gothic"/>
              </a:rPr>
              <a:t>이 수업을 마치면 </a:t>
            </a:r>
            <a:r>
              <a:rPr sz="3000" b="1">
                <a:solidFill>
                  <a:srgbClr val="FFB049"/>
                </a:solidFill>
                <a:latin typeface="Malgun Gothic"/>
              </a:rPr>
              <a:t>할 수 있는 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572768"/>
            <a:ext cx="5349240" cy="1152144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" y="1737360"/>
            <a:ext cx="9144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B049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92224" y="1737360"/>
            <a:ext cx="3977639" cy="87782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6F2EE"/>
                </a:solidFill>
                <a:latin typeface="Malgun Gothic"/>
              </a:rPr>
              <a:t>Python 기초 활용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7D9B94"/>
                </a:solidFill>
                <a:latin typeface="Malgun Gothic"/>
              </a:rPr>
              <a:t>변수·조건문·반복문·함수로 간단한 공정 계산 로직을 직접 작성한다.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572768"/>
            <a:ext cx="5349240" cy="1152144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737360"/>
            <a:ext cx="9144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B049"/>
                </a:solidFill>
                <a:latin typeface="Consola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15783" y="1737360"/>
            <a:ext cx="3977639" cy="87782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6F2EE"/>
                </a:solidFill>
                <a:latin typeface="Malgun Gothic"/>
              </a:rPr>
              <a:t>공정을 데이터로 설계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7D9B94"/>
                </a:solidFill>
                <a:latin typeface="Malgun Gothic"/>
              </a:rPr>
              <a:t>운전조건의 비용·효과·부작용·시너지를 구조화된 데이터로 표현한다.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2852928"/>
            <a:ext cx="5349240" cy="1152144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3017520"/>
            <a:ext cx="9144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B049"/>
                </a:solidFill>
                <a:latin typeface="Consola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2224" y="3017520"/>
            <a:ext cx="3977639" cy="87782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6F2EE"/>
                </a:solidFill>
                <a:latin typeface="Malgun Gothic"/>
              </a:rPr>
              <a:t>시스템 사고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7D9B94"/>
                </a:solidFill>
                <a:latin typeface="Malgun Gothic"/>
              </a:rPr>
              <a:t>수율·순도·안전·환경이 맞물린 공정 생태계의 인과를 추론한다.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2852928"/>
            <a:ext cx="5349240" cy="1152144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3017520"/>
            <a:ext cx="9144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B049"/>
                </a:solidFill>
                <a:latin typeface="Consola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15783" y="3017520"/>
            <a:ext cx="3977639" cy="87782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6F2EE"/>
                </a:solidFill>
                <a:latin typeface="Malgun Gothic"/>
              </a:rPr>
              <a:t>공정 트레이드오프 판단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7D9B94"/>
                </a:solidFill>
                <a:latin typeface="Malgun Gothic"/>
              </a:rPr>
              <a:t>생산량·품질·안전·원가 사이의 갈등을 균형 있게 의사결정한다.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" y="4133087"/>
            <a:ext cx="5349240" cy="1152144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" y="4297679"/>
            <a:ext cx="9144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B049"/>
                </a:solidFill>
                <a:latin typeface="Consolas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2224" y="4297679"/>
            <a:ext cx="3977639" cy="87782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6F2EE"/>
                </a:solidFill>
                <a:latin typeface="Malgun Gothic"/>
              </a:rPr>
              <a:t>데이터를 스스로 만든다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7D9B94"/>
                </a:solidFill>
                <a:latin typeface="Malgun Gothic"/>
              </a:rPr>
              <a:t>시드·라벨·CSV로 남이 다시 만들 수 있는 운전 데이터를 직접 생산한다.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7064" y="4133087"/>
            <a:ext cx="5349240" cy="1152144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4297679"/>
            <a:ext cx="9144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B049"/>
                </a:solidFill>
                <a:latin typeface="Consolas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15783" y="4297679"/>
            <a:ext cx="3977639" cy="87782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6F2EE"/>
                </a:solidFill>
                <a:latin typeface="Malgun Gothic"/>
              </a:rPr>
              <a:t>숫자를 직접 계산한다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7D9B94"/>
                </a:solidFill>
                <a:latin typeface="Malgun Gothic"/>
              </a:rPr>
              <a:t>평균·표준편차·변동계수를 엑셀로 한 번, 코드로 한 번 구하고 두 값을 맞춰 본다.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" y="5413247"/>
            <a:ext cx="5349240" cy="1152144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5577839"/>
            <a:ext cx="9144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B049"/>
                </a:solidFill>
                <a:latin typeface="Consolas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92224" y="5577839"/>
            <a:ext cx="3977639" cy="87782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6F2EE"/>
                </a:solidFill>
                <a:latin typeface="Malgun Gothic"/>
              </a:rPr>
              <a:t>AI의 답을 검증한다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7D9B94"/>
                </a:solidFill>
                <a:latin typeface="Malgun Gothic"/>
              </a:rPr>
              <a:t>분포·관리도·공정능력으로 얻은 결론을, 그것이 틀릴 수 있는 이유와 함께 말할 수 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84048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E0C8"/>
                </a:solidFill>
                <a:latin typeface="Consolas"/>
              </a:rPr>
              <a:t>주차별 커리큘럼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6F2EE"/>
                </a:solidFill>
                <a:latin typeface="Malgun Gothic"/>
              </a:rPr>
              <a:t>15주 </a:t>
            </a:r>
            <a:r>
              <a:rPr sz="3000" b="1">
                <a:solidFill>
                  <a:srgbClr val="FFB049"/>
                </a:solidFill>
                <a:latin typeface="Malgun Gothic"/>
              </a:rPr>
              <a:t>강의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1732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D9B94"/>
                </a:solidFill>
                <a:latin typeface="Malgun Gothic"/>
              </a:rPr>
              <a:t>매주 네 트랙 병행 — Python · 화학공학 · dkYield99 실습 · 데이터·통계 (9주부터)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965960"/>
            <a:ext cx="2697480" cy="4023360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" y="1965960"/>
            <a:ext cx="2697480" cy="73152"/>
          </a:xfrm>
          <a:prstGeom prst="rect">
            <a:avLst/>
          </a:prstGeom>
          <a:solidFill>
            <a:srgbClr val="FFB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148840"/>
            <a:ext cx="2295144" cy="374903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8CFF"/>
                </a:solidFill>
                <a:latin typeface="Consolas"/>
              </a:rPr>
              <a:t>MODULE 01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1">
                <a:solidFill>
                  <a:srgbClr val="E6F2EE"/>
                </a:solidFill>
                <a:latin typeface="Malgun Gothic"/>
              </a:rPr>
              <a:t>토대 — 공정·코드·화공의 첫 만남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>
                <a:solidFill>
                  <a:srgbClr val="4F6B64"/>
                </a:solidFill>
                <a:latin typeface="Consolas"/>
              </a:rPr>
              <a:t>1–3주</a:t>
            </a:r>
          </a:p>
          <a:p>
            <a:pPr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0">
                <a:solidFill>
                  <a:srgbClr val="E6F2EE"/>
                </a:solidFill>
                <a:latin typeface="Malgun Gothic"/>
              </a:rPr>
              <a:t> 1주  오리엔테이션 · 설치 · 공정의 지표를 변수로</a:t>
            </a:r>
          </a:p>
          <a:p>
            <a:pPr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0">
                <a:solidFill>
                  <a:srgbClr val="E6F2EE"/>
                </a:solidFill>
                <a:latin typeface="Malgun Gothic"/>
              </a:rPr>
              <a:t> 2주  리스트·딕셔너리 = 공정 카드의 구조</a:t>
            </a:r>
          </a:p>
          <a:p>
            <a:pPr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0">
                <a:solidFill>
                  <a:srgbClr val="E6F2EE"/>
                </a:solidFill>
                <a:latin typeface="Malgun Gothic"/>
              </a:rPr>
              <a:t> 3주  첫 공정 카드 만들기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3864" y="1965960"/>
            <a:ext cx="2697480" cy="4023360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83864" y="1965960"/>
            <a:ext cx="2697480" cy="73152"/>
          </a:xfrm>
          <a:prstGeom prst="rect">
            <a:avLst/>
          </a:prstGeom>
          <a:solidFill>
            <a:srgbClr val="4D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5032" y="2148840"/>
            <a:ext cx="2295144" cy="374903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8CFF"/>
                </a:solidFill>
                <a:latin typeface="Consolas"/>
              </a:rPr>
              <a:t>MODULE 02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1">
                <a:solidFill>
                  <a:srgbClr val="E6F2EE"/>
                </a:solidFill>
                <a:latin typeface="Malgun Gothic"/>
              </a:rPr>
              <a:t>로직 — 제약 속의 의사결정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>
                <a:solidFill>
                  <a:srgbClr val="4F6B64"/>
                </a:solidFill>
                <a:latin typeface="Consolas"/>
              </a:rPr>
              <a:t>4–8주</a:t>
            </a:r>
          </a:p>
          <a:p>
            <a:pPr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0">
                <a:solidFill>
                  <a:srgbClr val="E6F2EE"/>
                </a:solidFill>
                <a:latin typeface="Malgun Gothic"/>
              </a:rPr>
              <a:t> 4주  조건문 = 예산·설비 제약</a:t>
            </a:r>
          </a:p>
          <a:p>
            <a:pPr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0">
                <a:solidFill>
                  <a:srgbClr val="E6F2EE"/>
                </a:solidFill>
                <a:latin typeface="Malgun Gothic"/>
              </a:rPr>
              <a:t> 5주  반복문 = 턴(월)의 흐름</a:t>
            </a:r>
          </a:p>
          <a:p>
            <a:pPr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0">
                <a:solidFill>
                  <a:srgbClr val="E6F2EE"/>
                </a:solidFill>
                <a:latin typeface="Malgun Gothic"/>
              </a:rPr>
              <a:t> 6주  함수 = 수율 계산기</a:t>
            </a:r>
          </a:p>
          <a:p>
            <a:pPr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0">
                <a:solidFill>
                  <a:srgbClr val="E6F2EE"/>
                </a:solidFill>
                <a:latin typeface="Malgun Gothic"/>
              </a:rPr>
              <a:t> 7주  엔진 전체 읽기 — 한 달은 어떻게 계산되는가</a:t>
            </a:r>
          </a:p>
          <a:p>
            <a:pPr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1">
                <a:solidFill>
                  <a:srgbClr val="FFCE86"/>
                </a:solidFill>
                <a:latin typeface="Malgun Gothic"/>
              </a:rPr>
              <a:t> 8주  중간 점검 · 공정팩 설계 발표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64224" y="1965960"/>
            <a:ext cx="2697480" cy="4023360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64224" y="1965960"/>
            <a:ext cx="2697480" cy="73152"/>
          </a:xfrm>
          <a:prstGeom prst="rect">
            <a:avLst/>
          </a:prstGeom>
          <a:solidFill>
            <a:srgbClr val="2F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2148840"/>
            <a:ext cx="2295144" cy="374903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8CFF"/>
                </a:solidFill>
                <a:latin typeface="Consolas"/>
              </a:rPr>
              <a:t>MODULE 03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1">
                <a:solidFill>
                  <a:srgbClr val="E6F2EE"/>
                </a:solidFill>
                <a:latin typeface="Malgun Gothic"/>
              </a:rPr>
              <a:t>데이터 — 만들고 · 남기고 · 읽는다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>
                <a:solidFill>
                  <a:srgbClr val="4F6B64"/>
                </a:solidFill>
                <a:latin typeface="Consolas"/>
              </a:rPr>
              <a:t>9–12주</a:t>
            </a:r>
          </a:p>
          <a:p>
            <a:pPr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0">
                <a:solidFill>
                  <a:srgbClr val="E6F2EE"/>
                </a:solidFill>
                <a:latin typeface="Malgun Gothic"/>
              </a:rPr>
              <a:t> 9주  같은 선택, 다른 결과 — 시드와 반복</a:t>
            </a:r>
          </a:p>
          <a:p>
            <a:pPr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0">
                <a:solidFill>
                  <a:srgbClr val="E6F2EE"/>
                </a:solidFill>
                <a:latin typeface="Malgun Gothic"/>
              </a:rPr>
              <a:t>10주  데이터를 남긴다 — 저장 · 라벨 · CSV</a:t>
            </a:r>
          </a:p>
          <a:p>
            <a:pPr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0">
                <a:solidFill>
                  <a:srgbClr val="E6F2EE"/>
                </a:solidFill>
                <a:latin typeface="Malgun Gothic"/>
              </a:rPr>
              <a:t>11주  엑셀로 읽는 숫자</a:t>
            </a:r>
          </a:p>
          <a:p>
            <a:pPr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0">
                <a:solidFill>
                  <a:srgbClr val="E6F2EE"/>
                </a:solidFill>
                <a:latin typeface="Malgun Gothic"/>
              </a:rPr>
              <a:t>12주  파이썬으로 같은 값 만들기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44584" y="1965960"/>
            <a:ext cx="2697480" cy="4023360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44584" y="1965960"/>
            <a:ext cx="2697480" cy="73152"/>
          </a:xfrm>
          <a:prstGeom prst="rect">
            <a:avLst/>
          </a:prstGeom>
          <a:solidFill>
            <a:srgbClr val="B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45752" y="2148840"/>
            <a:ext cx="2295144" cy="374903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8CFF"/>
                </a:solidFill>
                <a:latin typeface="Consolas"/>
              </a:rPr>
              <a:t>MODULE 04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1">
                <a:solidFill>
                  <a:srgbClr val="E6F2EE"/>
                </a:solidFill>
                <a:latin typeface="Malgun Gothic"/>
              </a:rPr>
              <a:t>판단 — 분포를 읽고 두 무리를 견준다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>
                <a:solidFill>
                  <a:srgbClr val="4F6B64"/>
                </a:solidFill>
                <a:latin typeface="Consolas"/>
              </a:rPr>
              <a:t>13–15주</a:t>
            </a:r>
          </a:p>
          <a:p>
            <a:pPr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0">
                <a:solidFill>
                  <a:srgbClr val="E6F2EE"/>
                </a:solidFill>
                <a:latin typeface="Malgun Gothic"/>
              </a:rPr>
              <a:t>13주  분포를 읽는다 — 평균이 숨기는 것</a:t>
            </a:r>
          </a:p>
          <a:p>
            <a:pPr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0">
                <a:solidFill>
                  <a:srgbClr val="E6F2EE"/>
                </a:solidFill>
                <a:latin typeface="Malgun Gothic"/>
              </a:rPr>
              <a:t>14주  두 무리 비교 — 성공과 실패는 무엇이 달랐나</a:t>
            </a:r>
          </a:p>
          <a:p>
            <a:pPr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1">
                <a:solidFill>
                  <a:srgbClr val="FFCE86"/>
                </a:solidFill>
                <a:latin typeface="Malgun Gothic"/>
              </a:rPr>
              <a:t>15주  보고서와 발표 — 내 데이터로 말하기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84048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8CFF"/>
                </a:solidFill>
                <a:latin typeface="Consolas"/>
              </a:rPr>
              <a:t>MODULE 01 · 토대 — 공정·코드·화공의 첫 만남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13232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6F2EE"/>
                </a:solidFill>
                <a:latin typeface="Malgun Gothic"/>
              </a:rPr>
              <a:t>15주 강의계획 · 1주 · 2주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481328"/>
            <a:ext cx="10972800" cy="2542032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1481328"/>
            <a:ext cx="54864" cy="2542032"/>
          </a:xfrm>
          <a:prstGeom prst="rect">
            <a:avLst/>
          </a:prstGeom>
          <a:solidFill>
            <a:srgbClr val="2F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27632"/>
            <a:ext cx="1143000" cy="2286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6F2EE"/>
                </a:solidFill>
                <a:latin typeface="Consolas"/>
              </a:rPr>
              <a:t>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F6B64"/>
                </a:solidFill>
                <a:latin typeface="Consolas"/>
              </a:rPr>
              <a:t>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20824" y="1609344"/>
            <a:ext cx="9326880" cy="232257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E6F2EE"/>
                </a:solidFill>
                <a:latin typeface="Malgun Gothic"/>
              </a:rPr>
              <a:t>오리엔테이션 · 설치 · 공정의 지표를 변수로</a:t>
            </a:r>
          </a:p>
          <a:p>
            <a:pPr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1">
                <a:solidFill>
                  <a:srgbClr val="4DB6FF"/>
                </a:solidFill>
                <a:latin typeface="Consolas"/>
              </a:rPr>
              <a:t>Python       </a:t>
            </a:r>
            <a:r>
              <a:rPr sz="1200" b="0">
                <a:solidFill>
                  <a:srgbClr val="E6F2EE"/>
                </a:solidFill>
                <a:latin typeface="Malgun Gothic"/>
              </a:rPr>
              <a:t>설치, 그리고 첫 변수</a:t>
            </a:r>
          </a:p>
          <a:p>
            <a:pPr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1">
                <a:solidFill>
                  <a:srgbClr val="2FE0C8"/>
                </a:solidFill>
                <a:latin typeface="Consolas"/>
              </a:rPr>
              <a:t>화학공학         </a:t>
            </a:r>
            <a:r>
              <a:rPr sz="1200" b="0">
                <a:solidFill>
                  <a:srgbClr val="E6F2EE"/>
                </a:solidFill>
                <a:latin typeface="Malgun Gothic"/>
              </a:rPr>
              <a:t>AI시대 공정 엔지니어링 · 운전의 기초</a:t>
            </a:r>
          </a:p>
          <a:p>
            <a:pPr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1">
                <a:solidFill>
                  <a:srgbClr val="FFB049"/>
                </a:solidFill>
                <a:latin typeface="Consolas"/>
              </a:rPr>
              <a:t>dkYield99 실습 </a:t>
            </a:r>
            <a:r>
              <a:rPr sz="1200" b="0">
                <a:solidFill>
                  <a:srgbClr val="E6F2EE"/>
                </a:solidFill>
                <a:latin typeface="Malgun Gothic"/>
              </a:rPr>
              <a:t>12개월 운전 → 그 숫자를 코드에서 찾기</a:t>
            </a:r>
          </a:p>
          <a:p>
            <a:pPr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1">
                <a:solidFill>
                  <a:srgbClr val="FFCE86"/>
                </a:solidFill>
                <a:latin typeface="Consolas"/>
              </a:rPr>
              <a:t>▸ INSTALL.md · docs/TOOLS.md · process_engine.py › new_plant()</a:t>
            </a:r>
            <a:r>
              <a:rPr sz="1100" b="0">
                <a:solidFill>
                  <a:srgbClr val="7D9B94"/>
                </a:solidFill>
                <a:latin typeface="Malgun Gothic"/>
              </a:rPr>
              <a:t>   _start.bat 으로 서버를 켜고, 화면의 지표가 처음 정의되는 함수를 같은 주에 함께 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4160520"/>
            <a:ext cx="10972800" cy="2542032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" y="4160520"/>
            <a:ext cx="54864" cy="2542032"/>
          </a:xfrm>
          <a:prstGeom prst="rect">
            <a:avLst/>
          </a:prstGeom>
          <a:solidFill>
            <a:srgbClr val="2F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4306824"/>
            <a:ext cx="1143000" cy="2286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6F2EE"/>
                </a:solidFill>
                <a:latin typeface="Consolas"/>
              </a:rPr>
              <a:t>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F6B64"/>
                </a:solidFill>
                <a:latin typeface="Consolas"/>
              </a:rPr>
              <a:t>WEEK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0824" y="4288536"/>
            <a:ext cx="9326880" cy="232257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E6F2EE"/>
                </a:solidFill>
                <a:latin typeface="Malgun Gothic"/>
              </a:rPr>
              <a:t>리스트·딕셔너리 = 공정 카드의 구조</a:t>
            </a:r>
          </a:p>
          <a:p>
            <a:pPr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1">
                <a:solidFill>
                  <a:srgbClr val="4DB6FF"/>
                </a:solidFill>
                <a:latin typeface="Consolas"/>
              </a:rPr>
              <a:t>Python       </a:t>
            </a:r>
            <a:r>
              <a:rPr sz="1200" b="0">
                <a:solidFill>
                  <a:srgbClr val="E6F2EE"/>
                </a:solidFill>
                <a:latin typeface="Malgun Gothic"/>
              </a:rPr>
              <a:t>리스트, 딕셔너리(키-값)</a:t>
            </a:r>
          </a:p>
          <a:p>
            <a:pPr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1">
                <a:solidFill>
                  <a:srgbClr val="2FE0C8"/>
                </a:solidFill>
                <a:latin typeface="Consolas"/>
              </a:rPr>
              <a:t>화학공학         </a:t>
            </a:r>
            <a:r>
              <a:rPr sz="1200" b="0">
                <a:solidFill>
                  <a:srgbClr val="E6F2EE"/>
                </a:solidFill>
                <a:latin typeface="Malgun Gothic"/>
              </a:rPr>
              <a:t>운전 조건과 단위조작(반응·분리)</a:t>
            </a:r>
          </a:p>
          <a:p>
            <a:pPr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1">
                <a:solidFill>
                  <a:srgbClr val="FFB049"/>
                </a:solidFill>
                <a:latin typeface="Consolas"/>
              </a:rPr>
              <a:t>dkYield99 실습 </a:t>
            </a:r>
            <a:r>
              <a:rPr sz="1200" b="0">
                <a:solidFill>
                  <a:srgbClr val="E6F2EE"/>
                </a:solidFill>
                <a:latin typeface="Malgun Gothic"/>
              </a:rPr>
              <a:t>공정 카드가 데이터로 표현되는 방식 읽기</a:t>
            </a:r>
          </a:p>
          <a:p>
            <a:pPr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1">
                <a:solidFill>
                  <a:srgbClr val="FFCE86"/>
                </a:solidFill>
                <a:latin typeface="Consolas"/>
              </a:rPr>
              <a:t>▸ server/app/cards/cards_data.py</a:t>
            </a:r>
            <a:r>
              <a:rPr sz="1100" b="0">
                <a:solidFill>
                  <a:srgbClr val="7D9B94"/>
                </a:solidFill>
                <a:latin typeface="Malgun Gothic"/>
              </a:rPr>
              <a:t>   운전·설비·R&amp;D 카드 20장이 { 비용·효과·부작용 } 딕셔너리 목록으로 정의된 파일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84048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8CFF"/>
                </a:solidFill>
                <a:latin typeface="Consolas"/>
              </a:rPr>
              <a:t>MODULE 01 · 토대 — 공정·코드·화공의 첫 만남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13232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6F2EE"/>
                </a:solidFill>
                <a:latin typeface="Malgun Gothic"/>
              </a:rPr>
              <a:t>15주 강의계획 · 3주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481328"/>
            <a:ext cx="10972800" cy="2542032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1481328"/>
            <a:ext cx="54864" cy="2542032"/>
          </a:xfrm>
          <a:prstGeom prst="rect">
            <a:avLst/>
          </a:prstGeom>
          <a:solidFill>
            <a:srgbClr val="2F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27632"/>
            <a:ext cx="1143000" cy="2286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6F2EE"/>
                </a:solidFill>
                <a:latin typeface="Consolas"/>
              </a:rPr>
              <a:t>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F6B64"/>
                </a:solidFill>
                <a:latin typeface="Consolas"/>
              </a:rPr>
              <a:t>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20824" y="1609344"/>
            <a:ext cx="9326880" cy="232257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E6F2EE"/>
                </a:solidFill>
                <a:latin typeface="Malgun Gothic"/>
              </a:rPr>
              <a:t>첫 공정 카드 만들기</a:t>
            </a:r>
          </a:p>
          <a:p>
            <a:pPr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1">
                <a:solidFill>
                  <a:srgbClr val="4DB6FF"/>
                </a:solidFill>
                <a:latin typeface="Consolas"/>
              </a:rPr>
              <a:t>Python       </a:t>
            </a:r>
            <a:r>
              <a:rPr sz="1200" b="0">
                <a:solidFill>
                  <a:srgbClr val="E6F2EE"/>
                </a:solidFill>
                <a:latin typeface="Malgun Gothic"/>
              </a:rPr>
              <a:t>딕셔너리 편집 · 검사기 실행</a:t>
            </a:r>
          </a:p>
          <a:p>
            <a:pPr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1">
                <a:solidFill>
                  <a:srgbClr val="2FE0C8"/>
                </a:solidFill>
                <a:latin typeface="Consolas"/>
              </a:rPr>
              <a:t>화학공학         </a:t>
            </a:r>
            <a:r>
              <a:rPr sz="1200" b="0">
                <a:solidFill>
                  <a:srgbClr val="E6F2EE"/>
                </a:solidFill>
                <a:latin typeface="Malgun Gothic"/>
              </a:rPr>
              <a:t>공정 변수(온도·압력·유량·환류비)의 선택</a:t>
            </a:r>
          </a:p>
          <a:p>
            <a:pPr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1">
                <a:solidFill>
                  <a:srgbClr val="FFB049"/>
                </a:solidFill>
                <a:latin typeface="Consolas"/>
              </a:rPr>
              <a:t>dkYield99 실습 </a:t>
            </a:r>
            <a:r>
              <a:rPr sz="1200" b="0">
                <a:solidFill>
                  <a:srgbClr val="E6F2EE"/>
                </a:solidFill>
                <a:latin typeface="Malgun Gothic"/>
              </a:rPr>
              <a:t>나의 첫 운전 카드 작성 후 검사기로 확인</a:t>
            </a:r>
          </a:p>
          <a:p>
            <a:pPr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1">
                <a:solidFill>
                  <a:srgbClr val="FFCE86"/>
                </a:solidFill>
                <a:latin typeface="Consolas"/>
              </a:rPr>
              <a:t>▸ cards_data.py + card_schema.py</a:t>
            </a:r>
            <a:r>
              <a:rPr sz="1100" b="0">
                <a:solidFill>
                  <a:srgbClr val="7D9B94"/>
                </a:solidFill>
                <a:latin typeface="Malgun Gothic"/>
              </a:rPr>
              <a:t>   블록을 복사해 카드를 추가하고 validate()로 오타·누락을 점검하는 흐름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84048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8CFF"/>
                </a:solidFill>
                <a:latin typeface="Consolas"/>
              </a:rPr>
              <a:t>MODULE 02 · 로직 — 제약 속의 의사결정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13232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6F2EE"/>
                </a:solidFill>
                <a:latin typeface="Malgun Gothic"/>
              </a:rPr>
              <a:t>15주 강의계획 · 4주 · 5주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481328"/>
            <a:ext cx="10972800" cy="2542032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1481328"/>
            <a:ext cx="54864" cy="2542032"/>
          </a:xfrm>
          <a:prstGeom prst="rect">
            <a:avLst/>
          </a:prstGeom>
          <a:solidFill>
            <a:srgbClr val="2F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27632"/>
            <a:ext cx="1143000" cy="2286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6F2EE"/>
                </a:solidFill>
                <a:latin typeface="Consolas"/>
              </a:rPr>
              <a:t>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F6B64"/>
                </a:solidFill>
                <a:latin typeface="Consolas"/>
              </a:rPr>
              <a:t>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20824" y="1609344"/>
            <a:ext cx="9326880" cy="232257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E6F2EE"/>
                </a:solidFill>
                <a:latin typeface="Malgun Gothic"/>
              </a:rPr>
              <a:t>조건문 = 예산·설비 제약</a:t>
            </a:r>
          </a:p>
          <a:p>
            <a:pPr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1">
                <a:solidFill>
                  <a:srgbClr val="4DB6FF"/>
                </a:solidFill>
                <a:latin typeface="Consolas"/>
              </a:rPr>
              <a:t>Python       </a:t>
            </a:r>
            <a:r>
              <a:rPr sz="1200" b="0">
                <a:solidFill>
                  <a:srgbClr val="E6F2EE"/>
                </a:solidFill>
                <a:latin typeface="Malgun Gothic"/>
              </a:rPr>
              <a:t>if / elif / else, 비교연산</a:t>
            </a:r>
          </a:p>
          <a:p>
            <a:pPr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1">
                <a:solidFill>
                  <a:srgbClr val="2FE0C8"/>
                </a:solidFill>
                <a:latin typeface="Consolas"/>
              </a:rPr>
              <a:t>화학공학         </a:t>
            </a:r>
            <a:r>
              <a:rPr sz="1200" b="0">
                <a:solidFill>
                  <a:srgbClr val="E6F2EE"/>
                </a:solidFill>
                <a:latin typeface="Malgun Gothic"/>
              </a:rPr>
              <a:t>운전 한계 · 안전 제약하 의사결정</a:t>
            </a:r>
          </a:p>
          <a:p>
            <a:pPr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1">
                <a:solidFill>
                  <a:srgbClr val="FFB049"/>
                </a:solidFill>
                <a:latin typeface="Consolas"/>
              </a:rPr>
              <a:t>dkYield99 실습 </a:t>
            </a:r>
            <a:r>
              <a:rPr sz="1200" b="0">
                <a:solidFill>
                  <a:srgbClr val="E6F2EE"/>
                </a:solidFill>
                <a:latin typeface="Malgun Gothic"/>
              </a:rPr>
              <a:t>예산 부족·일회성 설비 조건 코드 분석</a:t>
            </a:r>
          </a:p>
          <a:p>
            <a:pPr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1">
                <a:solidFill>
                  <a:srgbClr val="FFCE86"/>
                </a:solidFill>
                <a:latin typeface="Consolas"/>
              </a:rPr>
              <a:t>▸ process_engine.py › enact_card()</a:t>
            </a:r>
            <a:r>
              <a:rPr sz="1100" b="0">
                <a:solidFill>
                  <a:srgbClr val="7D9B94"/>
                </a:solidFill>
                <a:latin typeface="Malgun Gothic"/>
              </a:rPr>
              <a:t>   예산이 충분한지, 이미 설치한 설비인지 if로 판단해 시행 여부를 정하는 부분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4160520"/>
            <a:ext cx="10972800" cy="2542032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" y="4160520"/>
            <a:ext cx="54864" cy="2542032"/>
          </a:xfrm>
          <a:prstGeom prst="rect">
            <a:avLst/>
          </a:prstGeom>
          <a:solidFill>
            <a:srgbClr val="2F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4306824"/>
            <a:ext cx="1143000" cy="2286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6F2EE"/>
                </a:solidFill>
                <a:latin typeface="Consolas"/>
              </a:rPr>
              <a:t>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F6B64"/>
                </a:solidFill>
                <a:latin typeface="Consolas"/>
              </a:rPr>
              <a:t>WEEK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0824" y="4288536"/>
            <a:ext cx="9326880" cy="232257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E6F2EE"/>
                </a:solidFill>
                <a:latin typeface="Malgun Gothic"/>
              </a:rPr>
              <a:t>반복문 = 턴(월)의 흐름</a:t>
            </a:r>
          </a:p>
          <a:p>
            <a:pPr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1">
                <a:solidFill>
                  <a:srgbClr val="4DB6FF"/>
                </a:solidFill>
                <a:latin typeface="Consolas"/>
              </a:rPr>
              <a:t>Python       </a:t>
            </a:r>
            <a:r>
              <a:rPr sz="1200" b="0">
                <a:solidFill>
                  <a:srgbClr val="E6F2EE"/>
                </a:solidFill>
                <a:latin typeface="Malgun Gothic"/>
              </a:rPr>
              <a:t>for 반복, 누적 합</a:t>
            </a:r>
          </a:p>
          <a:p>
            <a:pPr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1">
                <a:solidFill>
                  <a:srgbClr val="2FE0C8"/>
                </a:solidFill>
                <a:latin typeface="Consolas"/>
              </a:rPr>
              <a:t>화학공학         </a:t>
            </a:r>
            <a:r>
              <a:rPr sz="1200" b="0">
                <a:solidFill>
                  <a:srgbClr val="E6F2EE"/>
                </a:solidFill>
                <a:latin typeface="Malgun Gothic"/>
              </a:rPr>
              <a:t>시계열 운전 · 누적 효과 · 동특성</a:t>
            </a:r>
          </a:p>
          <a:p>
            <a:pPr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1">
                <a:solidFill>
                  <a:srgbClr val="FFB049"/>
                </a:solidFill>
                <a:latin typeface="Consolas"/>
              </a:rPr>
              <a:t>dkYield99 실습 </a:t>
            </a:r>
            <a:r>
              <a:rPr sz="1200" b="0">
                <a:solidFill>
                  <a:srgbClr val="E6F2EE"/>
                </a:solidFill>
                <a:latin typeface="Malgun Gothic"/>
              </a:rPr>
              <a:t>턴마다 효과·유지비가 쌓이는 과정 추적</a:t>
            </a:r>
          </a:p>
          <a:p>
            <a:pPr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1">
                <a:solidFill>
                  <a:srgbClr val="FFCE86"/>
                </a:solidFill>
                <a:latin typeface="Consolas"/>
              </a:rPr>
              <a:t>▸ process_engine.py › apply_effect() · end_turn()</a:t>
            </a:r>
            <a:r>
              <a:rPr sz="1100" b="0">
                <a:solidFill>
                  <a:srgbClr val="7D9B94"/>
                </a:solidFill>
                <a:latin typeface="Malgun Gothic"/>
              </a:rPr>
              <a:t>   효과를 하나씩 더하고(for), 설치된 설비·진행 중 R&amp;D를 순회하는 부분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84048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8CFF"/>
                </a:solidFill>
                <a:latin typeface="Consolas"/>
              </a:rPr>
              <a:t>MODULE 02 · 로직 — 제약 속의 의사결정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13232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6F2EE"/>
                </a:solidFill>
                <a:latin typeface="Malgun Gothic"/>
              </a:rPr>
              <a:t>15주 강의계획 · 6주 · 7주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481328"/>
            <a:ext cx="10972800" cy="2542032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1481328"/>
            <a:ext cx="54864" cy="2542032"/>
          </a:xfrm>
          <a:prstGeom prst="rect">
            <a:avLst/>
          </a:prstGeom>
          <a:solidFill>
            <a:srgbClr val="2F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27632"/>
            <a:ext cx="1143000" cy="2286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6F2EE"/>
                </a:solidFill>
                <a:latin typeface="Consolas"/>
              </a:rPr>
              <a:t>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F6B64"/>
                </a:solidFill>
                <a:latin typeface="Consolas"/>
              </a:rPr>
              <a:t>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20824" y="1609344"/>
            <a:ext cx="9326880" cy="232257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E6F2EE"/>
                </a:solidFill>
                <a:latin typeface="Malgun Gothic"/>
              </a:rPr>
              <a:t>함수 = 수율 계산기</a:t>
            </a:r>
          </a:p>
          <a:p>
            <a:pPr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1">
                <a:solidFill>
                  <a:srgbClr val="4DB6FF"/>
                </a:solidFill>
                <a:latin typeface="Consolas"/>
              </a:rPr>
              <a:t>Python       </a:t>
            </a:r>
            <a:r>
              <a:rPr sz="1200" b="0">
                <a:solidFill>
                  <a:srgbClr val="E6F2EE"/>
                </a:solidFill>
                <a:latin typeface="Malgun Gothic"/>
              </a:rPr>
              <a:t>def 함수, 인자·반환값</a:t>
            </a:r>
          </a:p>
          <a:p>
            <a:pPr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1">
                <a:solidFill>
                  <a:srgbClr val="2FE0C8"/>
                </a:solidFill>
                <a:latin typeface="Consolas"/>
              </a:rPr>
              <a:t>화학공학         </a:t>
            </a:r>
            <a:r>
              <a:rPr sz="1200" b="0">
                <a:solidFill>
                  <a:srgbClr val="E6F2EE"/>
                </a:solidFill>
                <a:latin typeface="Malgun Gothic"/>
              </a:rPr>
              <a:t>수율 = 전환율 × 선택도 × 분리회수율</a:t>
            </a:r>
          </a:p>
          <a:p>
            <a:pPr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1">
                <a:solidFill>
                  <a:srgbClr val="FFB049"/>
                </a:solidFill>
                <a:latin typeface="Consolas"/>
              </a:rPr>
              <a:t>dkYield99 실습 </a:t>
            </a:r>
            <a:r>
              <a:rPr sz="1200" b="0">
                <a:solidFill>
                  <a:srgbClr val="E6F2EE"/>
                </a:solidFill>
                <a:latin typeface="Malgun Gothic"/>
              </a:rPr>
              <a:t>세 요소를 바꿔 수율이 어떻게 달라지는지 실험</a:t>
            </a:r>
          </a:p>
          <a:p>
            <a:pPr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1">
                <a:solidFill>
                  <a:srgbClr val="FFCE86"/>
                </a:solidFill>
                <a:latin typeface="Consolas"/>
              </a:rPr>
              <a:t>▸ process_engine.py › calculate_yield()</a:t>
            </a:r>
            <a:r>
              <a:rPr sz="1100" b="0">
                <a:solidFill>
                  <a:srgbClr val="7D9B94"/>
                </a:solidFill>
                <a:latin typeface="Malgun Gothic"/>
              </a:rPr>
              <a:t>   전환율·선택도·분리회수율로 수율을 계산해 돌려주는 핵심 함수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4160520"/>
            <a:ext cx="10972800" cy="2542032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" y="4160520"/>
            <a:ext cx="54864" cy="2542032"/>
          </a:xfrm>
          <a:prstGeom prst="rect">
            <a:avLst/>
          </a:prstGeom>
          <a:solidFill>
            <a:srgbClr val="2F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4306824"/>
            <a:ext cx="1143000" cy="2286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6F2EE"/>
                </a:solidFill>
                <a:latin typeface="Consolas"/>
              </a:rPr>
              <a:t>7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F6B64"/>
                </a:solidFill>
                <a:latin typeface="Consolas"/>
              </a:rPr>
              <a:t>WEEK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0824" y="4288536"/>
            <a:ext cx="9326880" cy="232257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E6F2EE"/>
                </a:solidFill>
                <a:latin typeface="Malgun Gothic"/>
              </a:rPr>
              <a:t>엔진 전체 읽기 — 한 달은 어떻게 계산되는가</a:t>
            </a:r>
          </a:p>
          <a:p>
            <a:pPr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1">
                <a:solidFill>
                  <a:srgbClr val="4DB6FF"/>
                </a:solidFill>
                <a:latin typeface="Consolas"/>
              </a:rPr>
              <a:t>Python       </a:t>
            </a:r>
            <a:r>
              <a:rPr sz="1200" b="0">
                <a:solidFill>
                  <a:srgbClr val="E6F2EE"/>
                </a:solidFill>
                <a:latin typeface="Malgun Gothic"/>
              </a:rPr>
              <a:t>모듈과 호출 흐름</a:t>
            </a:r>
          </a:p>
          <a:p>
            <a:pPr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1">
                <a:solidFill>
                  <a:srgbClr val="2FE0C8"/>
                </a:solidFill>
                <a:latin typeface="Consolas"/>
              </a:rPr>
              <a:t>화학공학         </a:t>
            </a:r>
            <a:r>
              <a:rPr sz="1200" b="0">
                <a:solidFill>
                  <a:srgbClr val="E6F2EE"/>
                </a:solidFill>
                <a:latin typeface="Malgun Gothic"/>
              </a:rPr>
              <a:t>공정 계통과 피드백 루프</a:t>
            </a:r>
          </a:p>
          <a:p>
            <a:pPr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1">
                <a:solidFill>
                  <a:srgbClr val="FFB049"/>
                </a:solidFill>
                <a:latin typeface="Consolas"/>
              </a:rPr>
              <a:t>dkYield99 실습 </a:t>
            </a:r>
            <a:r>
              <a:rPr sz="1200" b="0">
                <a:solidFill>
                  <a:srgbClr val="E6F2EE"/>
                </a:solidFill>
                <a:latin typeface="Malgun Gothic"/>
              </a:rPr>
              <a:t>end_turn() 한 줄씩 따라가기</a:t>
            </a:r>
          </a:p>
          <a:p>
            <a:pPr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1">
                <a:solidFill>
                  <a:srgbClr val="FFCE86"/>
                </a:solidFill>
                <a:latin typeface="Consolas"/>
              </a:rPr>
              <a:t>▸ server/app/engine/process_engine.py › end_turn()</a:t>
            </a:r>
            <a:r>
              <a:rPr sz="1100" b="0">
                <a:solidFill>
                  <a:srgbClr val="7D9B94"/>
                </a:solidFill>
                <a:latin typeface="Malgun Gothic"/>
              </a:rPr>
              <a:t>   생산 실행 버튼 하나가 유지비·수율·이익·안전을 차례로 처리하는 흐름 — 앞의 5주가 모두 여기서 만납니다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84048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8CFF"/>
                </a:solidFill>
                <a:latin typeface="Consolas"/>
              </a:rPr>
              <a:t>MODULE 02 · 로직 — 제약 속의 의사결정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13232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6F2EE"/>
                </a:solidFill>
                <a:latin typeface="Malgun Gothic"/>
              </a:rPr>
              <a:t>15주 강의계획 · 8주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481328"/>
            <a:ext cx="10972800" cy="2542032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1481328"/>
            <a:ext cx="54864" cy="2542032"/>
          </a:xfrm>
          <a:prstGeom prst="rect">
            <a:avLst/>
          </a:prstGeom>
          <a:solidFill>
            <a:srgbClr val="FF57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27632"/>
            <a:ext cx="1143000" cy="2286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6F2EE"/>
                </a:solidFill>
                <a:latin typeface="Consolas"/>
              </a:rPr>
              <a:t>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F6B64"/>
                </a:solidFill>
                <a:latin typeface="Consolas"/>
              </a:rPr>
              <a:t>EXAM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20824" y="1609344"/>
            <a:ext cx="9326880" cy="232257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E6F2EE"/>
                </a:solidFill>
                <a:latin typeface="Malgun Gothic"/>
              </a:rPr>
              <a:t>중간 점검 · 공정팩 설계 발표</a:t>
            </a:r>
          </a:p>
          <a:p>
            <a:pPr>
              <a:lnSpc>
                <a:spcPct val="108000"/>
              </a:lnSpc>
              <a:spcBef>
                <a:spcPts val="700"/>
              </a:spcBef>
              <a:spcAft>
                <a:spcPts val="0"/>
              </a:spcAft>
            </a:pPr>
            <a:r>
              <a:rPr sz="1200" b="1">
                <a:solidFill>
                  <a:srgbClr val="FF5765"/>
                </a:solidFill>
                <a:latin typeface="Consolas"/>
              </a:rPr>
              <a:t>중간·기말   </a:t>
            </a:r>
            <a:r>
              <a:rPr sz="1200" b="0">
                <a:solidFill>
                  <a:srgbClr val="E6F2EE"/>
                </a:solidFill>
                <a:latin typeface="Malgun Gothic"/>
              </a:rPr>
              <a:t>중간고사(개념) + 중간 프로젝트: 카드 5종 설계 후 시뮬레이션 결과 발표 + 내 데이터셋 설명서 1쪽</a:t>
            </a:r>
          </a:p>
          <a:p>
            <a:pPr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1">
                <a:solidFill>
                  <a:srgbClr val="FFCE86"/>
                </a:solidFill>
                <a:latin typeface="Consolas"/>
              </a:rPr>
              <a:t>▸ cards_data.py + card_schema.py</a:t>
            </a:r>
            <a:r>
              <a:rPr sz="1100" b="0">
                <a:solidFill>
                  <a:srgbClr val="7D9B94"/>
                </a:solidFill>
                <a:latin typeface="Malgun Gothic"/>
              </a:rPr>
              <a:t>   학생이 직접 만든 공정 카드팩이 검사기를 통과하는지 확인 후 게임으로 검증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84048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8CFF"/>
                </a:solidFill>
                <a:latin typeface="Consolas"/>
              </a:rPr>
              <a:t>MODULE 03 · 데이터 — 만들고 · 남기고 · 읽는다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13232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6F2EE"/>
                </a:solidFill>
                <a:latin typeface="Malgun Gothic"/>
              </a:rPr>
              <a:t>15주 강의계획 · 9주 · 10주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481328"/>
            <a:ext cx="10972800" cy="2542032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1481328"/>
            <a:ext cx="54864" cy="2542032"/>
          </a:xfrm>
          <a:prstGeom prst="rect">
            <a:avLst/>
          </a:prstGeom>
          <a:solidFill>
            <a:srgbClr val="2F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27632"/>
            <a:ext cx="1143000" cy="2286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6F2EE"/>
                </a:solidFill>
                <a:latin typeface="Consolas"/>
              </a:rPr>
              <a:t>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F6B64"/>
                </a:solidFill>
                <a:latin typeface="Consolas"/>
              </a:rPr>
              <a:t>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20824" y="1609344"/>
            <a:ext cx="9326880" cy="232257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E6F2EE"/>
                </a:solidFill>
                <a:latin typeface="Malgun Gothic"/>
              </a:rPr>
              <a:t>같은 선택, 다른 결과 — 시드와 반복</a:t>
            </a:r>
          </a:p>
          <a:p>
            <a:pPr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1">
                <a:solidFill>
                  <a:srgbClr val="4DB6FF"/>
                </a:solidFill>
                <a:latin typeface="Consolas"/>
              </a:rPr>
              <a:t>Python       </a:t>
            </a:r>
            <a:r>
              <a:rPr sz="1200" b="0">
                <a:solidFill>
                  <a:srgbClr val="E6F2EE"/>
                </a:solidFill>
                <a:latin typeface="Malgun Gothic"/>
              </a:rPr>
              <a:t>모듈 불러오기와 반복 호출</a:t>
            </a:r>
          </a:p>
          <a:p>
            <a:pPr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1">
                <a:solidFill>
                  <a:srgbClr val="2FE0C8"/>
                </a:solidFill>
                <a:latin typeface="Consolas"/>
              </a:rPr>
              <a:t>화학공학         </a:t>
            </a:r>
            <a:r>
              <a:rPr sz="1200" b="0">
                <a:solidFill>
                  <a:srgbClr val="E6F2EE"/>
                </a:solidFill>
                <a:latin typeface="Malgun Gothic"/>
              </a:rPr>
              <a:t>공정 변동과 재현성</a:t>
            </a:r>
          </a:p>
          <a:p>
            <a:pPr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1">
                <a:solidFill>
                  <a:srgbClr val="FFB049"/>
                </a:solidFill>
                <a:latin typeface="Consolas"/>
              </a:rPr>
              <a:t>dkYield99 실습 </a:t>
            </a:r>
            <a:r>
              <a:rPr sz="1200" b="0">
                <a:solidFill>
                  <a:srgbClr val="E6F2EE"/>
                </a:solidFill>
                <a:latin typeface="Malgun Gothic"/>
              </a:rPr>
              <a:t>같은 전략, 시드 5개</a:t>
            </a:r>
          </a:p>
          <a:p>
            <a:pPr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1">
                <a:solidFill>
                  <a:srgbClr val="B08CFF"/>
                </a:solidFill>
                <a:latin typeface="Consolas"/>
              </a:rPr>
              <a:t>데이터·통계       </a:t>
            </a:r>
            <a:r>
              <a:rPr sz="1200" b="0">
                <a:solidFill>
                  <a:srgbClr val="E6F2EE"/>
                </a:solidFill>
                <a:latin typeface="Malgun Gothic"/>
              </a:rPr>
              <a:t>한 번은 아무것도 증명하지 않는다</a:t>
            </a:r>
          </a:p>
          <a:p>
            <a:pPr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1">
                <a:solidFill>
                  <a:srgbClr val="FFCE86"/>
                </a:solidFill>
                <a:latin typeface="Consolas"/>
              </a:rPr>
              <a:t>▸ server/app/engine/noise.py + lab/run_batch.py</a:t>
            </a:r>
            <a:r>
              <a:rPr sz="1100" b="0">
                <a:solidFill>
                  <a:srgbClr val="7D9B94"/>
                </a:solidFill>
                <a:latin typeface="Malgun Gothic"/>
              </a:rPr>
              <a:t>   시드에서 난수를 만들어 매 턴 값을 조금씩 흔드는 부분 — 저장·불러오기를 해도 같은 시드면 같은 결과가 나옵니다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4160520"/>
            <a:ext cx="10972800" cy="2542032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" y="4160520"/>
            <a:ext cx="54864" cy="2542032"/>
          </a:xfrm>
          <a:prstGeom prst="rect">
            <a:avLst/>
          </a:prstGeom>
          <a:solidFill>
            <a:srgbClr val="2F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4306824"/>
            <a:ext cx="1143000" cy="2286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6F2EE"/>
                </a:solidFill>
                <a:latin typeface="Consolas"/>
              </a:rPr>
              <a:t>10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F6B64"/>
                </a:solidFill>
                <a:latin typeface="Consolas"/>
              </a:rPr>
              <a:t>WEEK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0824" y="4288536"/>
            <a:ext cx="9326880" cy="232257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E6F2EE"/>
                </a:solidFill>
                <a:latin typeface="Malgun Gothic"/>
              </a:rPr>
              <a:t>데이터를 남긴다 — 저장 · 라벨 · CSV</a:t>
            </a:r>
          </a:p>
          <a:p>
            <a:pPr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1">
                <a:solidFill>
                  <a:srgbClr val="4DB6FF"/>
                </a:solidFill>
                <a:latin typeface="Consolas"/>
              </a:rPr>
              <a:t>Python       </a:t>
            </a:r>
            <a:r>
              <a:rPr sz="1200" b="0">
                <a:solidFill>
                  <a:srgbClr val="E6F2EE"/>
                </a:solidFill>
                <a:latin typeface="Malgun Gothic"/>
              </a:rPr>
              <a:t>파일과 경로</a:t>
            </a:r>
          </a:p>
          <a:p>
            <a:pPr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1">
                <a:solidFill>
                  <a:srgbClr val="2FE0C8"/>
                </a:solidFill>
                <a:latin typeface="Consolas"/>
              </a:rPr>
              <a:t>화학공학         </a:t>
            </a:r>
            <a:r>
              <a:rPr sz="1200" b="0">
                <a:solidFill>
                  <a:srgbClr val="E6F2EE"/>
                </a:solidFill>
                <a:latin typeface="Malgun Gothic"/>
              </a:rPr>
              <a:t>배치기록과 추적성</a:t>
            </a:r>
          </a:p>
          <a:p>
            <a:pPr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1">
                <a:solidFill>
                  <a:srgbClr val="FFB049"/>
                </a:solidFill>
                <a:latin typeface="Consolas"/>
              </a:rPr>
              <a:t>dkYield99 실습 </a:t>
            </a:r>
            <a:r>
              <a:rPr sz="1200" b="0">
                <a:solidFill>
                  <a:srgbClr val="E6F2EE"/>
                </a:solidFill>
                <a:latin typeface="Malgun Gothic"/>
              </a:rPr>
              <a:t>판을 이름 붙여 저장</a:t>
            </a:r>
          </a:p>
          <a:p>
            <a:pPr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1">
                <a:solidFill>
                  <a:srgbClr val="B08CFF"/>
                </a:solidFill>
                <a:latin typeface="Consolas"/>
              </a:rPr>
              <a:t>데이터·통계       </a:t>
            </a:r>
            <a:r>
              <a:rPr sz="1200" b="0">
                <a:solidFill>
                  <a:srgbClr val="E6F2EE"/>
                </a:solidFill>
                <a:latin typeface="Malgun Gothic"/>
              </a:rPr>
              <a:t>표본 하나 = 판 하나</a:t>
            </a:r>
          </a:p>
          <a:p>
            <a:pPr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1">
                <a:solidFill>
                  <a:srgbClr val="FFCE86"/>
                </a:solidFill>
                <a:latin typeface="Consolas"/>
              </a:rPr>
              <a:t>▸ server/app/persistence.py + export_csv.py</a:t>
            </a:r>
            <a:r>
              <a:rPr sz="1100" b="0">
                <a:solidFill>
                  <a:srgbClr val="7D9B94"/>
                </a:solidFill>
                <a:latin typeface="Malgun Gothic"/>
              </a:rPr>
              <a:t>   판을 이름·라벨·메모와 함께 저장하고, 같은 이름의 CSV를 lab/data 에 함께 기록하는 부분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84048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8CFF"/>
                </a:solidFill>
                <a:latin typeface="Consolas"/>
              </a:rPr>
              <a:t>MODULE 03 · 데이터 — 만들고 · 남기고 · 읽는다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13232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6F2EE"/>
                </a:solidFill>
                <a:latin typeface="Malgun Gothic"/>
              </a:rPr>
              <a:t>15주 강의계획 · 11주 · 12주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481328"/>
            <a:ext cx="10972800" cy="2542032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1481328"/>
            <a:ext cx="54864" cy="2542032"/>
          </a:xfrm>
          <a:prstGeom prst="rect">
            <a:avLst/>
          </a:prstGeom>
          <a:solidFill>
            <a:srgbClr val="2F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27632"/>
            <a:ext cx="1143000" cy="2286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6F2EE"/>
                </a:solidFill>
                <a:latin typeface="Consolas"/>
              </a:rPr>
              <a:t>11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F6B64"/>
                </a:solidFill>
                <a:latin typeface="Consolas"/>
              </a:rPr>
              <a:t>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20824" y="1609344"/>
            <a:ext cx="9326880" cy="232257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E6F2EE"/>
                </a:solidFill>
                <a:latin typeface="Malgun Gothic"/>
              </a:rPr>
              <a:t>엑셀로 읽는 숫자</a:t>
            </a:r>
          </a:p>
          <a:p>
            <a:pPr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1">
                <a:solidFill>
                  <a:srgbClr val="4DB6FF"/>
                </a:solidFill>
                <a:latin typeface="Consolas"/>
              </a:rPr>
              <a:t>Python       </a:t>
            </a:r>
            <a:r>
              <a:rPr sz="1200" b="0">
                <a:solidFill>
                  <a:srgbClr val="E6F2EE"/>
                </a:solidFill>
                <a:latin typeface="Malgun Gothic"/>
              </a:rPr>
              <a:t>CSV는 그냥 글자입니다 · VS Code 셀 실행</a:t>
            </a:r>
          </a:p>
          <a:p>
            <a:pPr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1">
                <a:solidFill>
                  <a:srgbClr val="2FE0C8"/>
                </a:solidFill>
                <a:latin typeface="Consolas"/>
              </a:rPr>
              <a:t>화학공학         </a:t>
            </a:r>
            <a:r>
              <a:rPr sz="1200" b="0">
                <a:solidFill>
                  <a:srgbClr val="E6F2EE"/>
                </a:solidFill>
                <a:latin typeface="Malgun Gothic"/>
              </a:rPr>
              <a:t>운전일지와 집계</a:t>
            </a:r>
          </a:p>
          <a:p>
            <a:pPr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1">
                <a:solidFill>
                  <a:srgbClr val="FFB049"/>
                </a:solidFill>
                <a:latin typeface="Consolas"/>
              </a:rPr>
              <a:t>dkYield99 실습 </a:t>
            </a:r>
            <a:r>
              <a:rPr sz="1200" b="0">
                <a:solidFill>
                  <a:srgbClr val="E6F2EE"/>
                </a:solidFill>
                <a:latin typeface="Malgun Gothic"/>
              </a:rPr>
              <a:t>판별 요약 CSV</a:t>
            </a:r>
          </a:p>
          <a:p>
            <a:pPr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1">
                <a:solidFill>
                  <a:srgbClr val="B08CFF"/>
                </a:solidFill>
                <a:latin typeface="Consolas"/>
              </a:rPr>
              <a:t>데이터·통계       </a:t>
            </a:r>
            <a:r>
              <a:rPr sz="1200" b="0">
                <a:solidFill>
                  <a:srgbClr val="E6F2EE"/>
                </a:solidFill>
                <a:latin typeface="Malgun Gothic"/>
              </a:rPr>
              <a:t>직접 만드는 다섯 값</a:t>
            </a:r>
          </a:p>
          <a:p>
            <a:pPr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1">
                <a:solidFill>
                  <a:srgbClr val="FFCE86"/>
                </a:solidFill>
                <a:latin typeface="Consolas"/>
              </a:rPr>
              <a:t>▸ lab/data/*.csv</a:t>
            </a:r>
            <a:r>
              <a:rPr sz="1100" b="0">
                <a:solidFill>
                  <a:srgbClr val="7D9B94"/>
                </a:solidFill>
                <a:latin typeface="Malgun Gothic"/>
              </a:rPr>
              <a:t>   게임이 내보낸 CSV — 한글이 깨지지 않도록 BOM(utf-8-sig)을 붙여 저장합니다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4160520"/>
            <a:ext cx="10972800" cy="2542032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" y="4160520"/>
            <a:ext cx="54864" cy="2542032"/>
          </a:xfrm>
          <a:prstGeom prst="rect">
            <a:avLst/>
          </a:prstGeom>
          <a:solidFill>
            <a:srgbClr val="2F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4306824"/>
            <a:ext cx="1143000" cy="2286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6F2EE"/>
                </a:solidFill>
                <a:latin typeface="Consolas"/>
              </a:rPr>
              <a:t>12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F6B64"/>
                </a:solidFill>
                <a:latin typeface="Consolas"/>
              </a:rPr>
              <a:t>WEEK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0824" y="4288536"/>
            <a:ext cx="9326880" cy="232257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E6F2EE"/>
                </a:solidFill>
                <a:latin typeface="Malgun Gothic"/>
              </a:rPr>
              <a:t>파이썬으로 같은 값 만들기</a:t>
            </a:r>
          </a:p>
          <a:p>
            <a:pPr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1">
                <a:solidFill>
                  <a:srgbClr val="4DB6FF"/>
                </a:solidFill>
                <a:latin typeface="Consolas"/>
              </a:rPr>
              <a:t>Python       </a:t>
            </a:r>
            <a:r>
              <a:rPr sz="1200" b="0">
                <a:solidFill>
                  <a:srgbClr val="E6F2EE"/>
                </a:solidFill>
                <a:latin typeface="Malgun Gothic"/>
              </a:rPr>
              <a:t>csv 읽기 · for 합계 · 함수 채우기</a:t>
            </a:r>
          </a:p>
          <a:p>
            <a:pPr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1">
                <a:solidFill>
                  <a:srgbClr val="2FE0C8"/>
                </a:solidFill>
                <a:latin typeface="Consolas"/>
              </a:rPr>
              <a:t>화학공학         </a:t>
            </a:r>
            <a:r>
              <a:rPr sz="1200" b="0">
                <a:solidFill>
                  <a:srgbClr val="E6F2EE"/>
                </a:solidFill>
                <a:latin typeface="Malgun Gothic"/>
              </a:rPr>
              <a:t>물질수지를 스스로 검산</a:t>
            </a:r>
          </a:p>
          <a:p>
            <a:pPr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1">
                <a:solidFill>
                  <a:srgbClr val="FFB049"/>
                </a:solidFill>
                <a:latin typeface="Consolas"/>
              </a:rPr>
              <a:t>dkYield99 실습 </a:t>
            </a:r>
            <a:r>
              <a:rPr sz="1200" b="0">
                <a:solidFill>
                  <a:srgbClr val="E6F2EE"/>
                </a:solidFill>
                <a:latin typeface="Malgun Gothic"/>
              </a:rPr>
              <a:t>엑셀 값과 코드 값 대조</a:t>
            </a:r>
          </a:p>
          <a:p>
            <a:pPr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1">
                <a:solidFill>
                  <a:srgbClr val="B08CFF"/>
                </a:solidFill>
                <a:latin typeface="Consolas"/>
              </a:rPr>
              <a:t>데이터·통계       </a:t>
            </a:r>
            <a:r>
              <a:rPr sz="1200" b="0">
                <a:solidFill>
                  <a:srgbClr val="E6F2EE"/>
                </a:solidFill>
                <a:latin typeface="Malgun Gothic"/>
              </a:rPr>
              <a:t>평균 · 표준편차 · 변동계수</a:t>
            </a:r>
          </a:p>
          <a:p>
            <a:pPr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1">
                <a:solidFill>
                  <a:srgbClr val="FFCE86"/>
                </a:solidFill>
                <a:latin typeface="Consolas"/>
              </a:rPr>
              <a:t>▸ lab/w12_basic.py · lab/check.py · lab/w12_chart.py</a:t>
            </a:r>
            <a:r>
              <a:rPr sz="1100" b="0">
                <a:solidFill>
                  <a:srgbClr val="7D9B94"/>
                </a:solidFill>
                <a:latin typeface="Malgun Gothic"/>
              </a:rPr>
              <a:t>   학생이 직접 채우는 실습 파일 — 채점기(check.py)가 무엇이 왜 틀렸는지 한국어로 알려 줍니다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84048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8CFF"/>
                </a:solidFill>
                <a:latin typeface="Consolas"/>
              </a:rPr>
              <a:t>MODULE 04 · 판단 — 분포를 읽고 두 무리를 견준다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13232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6F2EE"/>
                </a:solidFill>
                <a:latin typeface="Malgun Gothic"/>
              </a:rPr>
              <a:t>15주 강의계획 · 13주 · 14주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481328"/>
            <a:ext cx="10972800" cy="2542032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1481328"/>
            <a:ext cx="54864" cy="2542032"/>
          </a:xfrm>
          <a:prstGeom prst="rect">
            <a:avLst/>
          </a:prstGeom>
          <a:solidFill>
            <a:srgbClr val="2F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27632"/>
            <a:ext cx="1143000" cy="2286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6F2EE"/>
                </a:solidFill>
                <a:latin typeface="Consolas"/>
              </a:rPr>
              <a:t>13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F6B64"/>
                </a:solidFill>
                <a:latin typeface="Consolas"/>
              </a:rPr>
              <a:t>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20824" y="1609344"/>
            <a:ext cx="9326880" cy="232257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E6F2EE"/>
                </a:solidFill>
                <a:latin typeface="Malgun Gothic"/>
              </a:rPr>
              <a:t>분포를 읽는다 — 평균이 숨기는 것</a:t>
            </a:r>
          </a:p>
          <a:p>
            <a:pPr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1">
                <a:solidFill>
                  <a:srgbClr val="4DB6FF"/>
                </a:solidFill>
                <a:latin typeface="Consolas"/>
              </a:rPr>
              <a:t>Python       </a:t>
            </a:r>
            <a:r>
              <a:rPr sz="1200" b="0">
                <a:solidFill>
                  <a:srgbClr val="E6F2EE"/>
                </a:solidFill>
                <a:latin typeface="Malgun Gothic"/>
              </a:rPr>
              <a:t>구간을 나눠 세기</a:t>
            </a:r>
          </a:p>
          <a:p>
            <a:pPr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1">
                <a:solidFill>
                  <a:srgbClr val="2FE0C8"/>
                </a:solidFill>
                <a:latin typeface="Consolas"/>
              </a:rPr>
              <a:t>화학공학         </a:t>
            </a:r>
            <a:r>
              <a:rPr sz="1200" b="0">
                <a:solidFill>
                  <a:srgbClr val="E6F2EE"/>
                </a:solidFill>
                <a:latin typeface="Malgun Gothic"/>
              </a:rPr>
              <a:t>평균이 규격을 보장하지 않는다</a:t>
            </a:r>
          </a:p>
          <a:p>
            <a:pPr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1">
                <a:solidFill>
                  <a:srgbClr val="FFB049"/>
                </a:solidFill>
                <a:latin typeface="Consolas"/>
              </a:rPr>
              <a:t>dkYield99 실습 </a:t>
            </a:r>
            <a:r>
              <a:rPr sz="1200" b="0">
                <a:solidFill>
                  <a:srgbClr val="E6F2EE"/>
                </a:solidFill>
                <a:latin typeface="Malgun Gothic"/>
              </a:rPr>
              <a:t>내 공정 지표의 분포</a:t>
            </a:r>
          </a:p>
          <a:p>
            <a:pPr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1">
                <a:solidFill>
                  <a:srgbClr val="B08CFF"/>
                </a:solidFill>
                <a:latin typeface="Consolas"/>
              </a:rPr>
              <a:t>데이터·통계       </a:t>
            </a:r>
            <a:r>
              <a:rPr sz="1200" b="0">
                <a:solidFill>
                  <a:srgbClr val="E6F2EE"/>
                </a:solidFill>
                <a:latin typeface="Malgun Gothic"/>
              </a:rPr>
              <a:t>히스토그램 · 이상치 — 직접 만듭니다</a:t>
            </a:r>
          </a:p>
          <a:p>
            <a:pPr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1">
                <a:solidFill>
                  <a:srgbClr val="FFCE86"/>
                </a:solidFill>
                <a:latin typeface="Consolas"/>
              </a:rPr>
              <a:t>▸ lab/w12_basic.py · lab/w12_chart.py</a:t>
            </a:r>
            <a:r>
              <a:rPr sz="1100" b="0">
                <a:solidFill>
                  <a:srgbClr val="7D9B94"/>
                </a:solidFill>
                <a:latin typeface="Malgun Gothic"/>
              </a:rPr>
              <a:t>   구간을 나눠 세는 것이 도수분포표이고, 그것을 막대로 세운 것이 히스토그램입니다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4160520"/>
            <a:ext cx="10972800" cy="2542032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" y="4160520"/>
            <a:ext cx="54864" cy="2542032"/>
          </a:xfrm>
          <a:prstGeom prst="rect">
            <a:avLst/>
          </a:prstGeom>
          <a:solidFill>
            <a:srgbClr val="2F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4306824"/>
            <a:ext cx="1143000" cy="2286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6F2EE"/>
                </a:solidFill>
                <a:latin typeface="Consolas"/>
              </a:rPr>
              <a:t>14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F6B64"/>
                </a:solidFill>
                <a:latin typeface="Consolas"/>
              </a:rPr>
              <a:t>WEEK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0824" y="4288536"/>
            <a:ext cx="9326880" cy="232257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E6F2EE"/>
                </a:solidFill>
                <a:latin typeface="Malgun Gothic"/>
              </a:rPr>
              <a:t>두 무리 비교 — 성공과 실패는 무엇이 달랐나</a:t>
            </a:r>
          </a:p>
          <a:p>
            <a:pPr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1">
                <a:solidFill>
                  <a:srgbClr val="4DB6FF"/>
                </a:solidFill>
                <a:latin typeface="Consolas"/>
              </a:rPr>
              <a:t>Python       </a:t>
            </a:r>
            <a:r>
              <a:rPr sz="1200" b="0">
                <a:solidFill>
                  <a:srgbClr val="E6F2EE"/>
                </a:solidFill>
                <a:latin typeface="Malgun Gothic"/>
              </a:rPr>
              <a:t>리스트 두 개를 나란히</a:t>
            </a:r>
          </a:p>
          <a:p>
            <a:pPr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1">
                <a:solidFill>
                  <a:srgbClr val="2FE0C8"/>
                </a:solidFill>
                <a:latin typeface="Consolas"/>
              </a:rPr>
              <a:t>화학공학         </a:t>
            </a:r>
            <a:r>
              <a:rPr sz="1200" b="0">
                <a:solidFill>
                  <a:srgbClr val="E6F2EE"/>
                </a:solidFill>
                <a:latin typeface="Malgun Gothic"/>
              </a:rPr>
              <a:t>품질 판정 — 관리도와 공정능력</a:t>
            </a:r>
          </a:p>
          <a:p>
            <a:pPr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1">
                <a:solidFill>
                  <a:srgbClr val="FFB049"/>
                </a:solidFill>
                <a:latin typeface="Consolas"/>
              </a:rPr>
              <a:t>dkYield99 실습 </a:t>
            </a:r>
            <a:r>
              <a:rPr sz="1200" b="0">
                <a:solidFill>
                  <a:srgbClr val="E6F2EE"/>
                </a:solidFill>
                <a:latin typeface="Malgun Gothic"/>
              </a:rPr>
              <a:t>성공 vs 실패 · 품질 탭</a:t>
            </a:r>
          </a:p>
          <a:p>
            <a:pPr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1">
                <a:solidFill>
                  <a:srgbClr val="B08CFF"/>
                </a:solidFill>
                <a:latin typeface="Consolas"/>
              </a:rPr>
              <a:t>데이터·통계       </a:t>
            </a:r>
            <a:r>
              <a:rPr sz="1200" b="0">
                <a:solidFill>
                  <a:srgbClr val="E6F2EE"/>
                </a:solidFill>
                <a:latin typeface="Malgun Gothic"/>
              </a:rPr>
              <a:t>차이를 퍼짐과 견준다 (+ 관리도)</a:t>
            </a:r>
          </a:p>
          <a:p>
            <a:pPr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1">
                <a:solidFill>
                  <a:srgbClr val="FFCE86"/>
                </a:solidFill>
                <a:latin typeface="Consolas"/>
              </a:rPr>
              <a:t>▸ lab/w12_basic.py + server/app/statistics_lab.py › compare_groups()</a:t>
            </a:r>
            <a:r>
              <a:rPr sz="1100" b="0">
                <a:solidFill>
                  <a:srgbClr val="7D9B94"/>
                </a:solidFill>
                <a:latin typeface="Malgun Gothic"/>
              </a:rPr>
              <a:t>   두 무리의 평균과 퍼짐을 나란히 계산해, 그 차이를 어디까지 말할 수 있는지 보여 주는 부분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84048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8CFF"/>
                </a:solidFill>
                <a:latin typeface="Consolas"/>
              </a:rPr>
              <a:t>MODULE 04 · 판단 — 분포를 읽고 두 무리를 견준다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13232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6F2EE"/>
                </a:solidFill>
                <a:latin typeface="Malgun Gothic"/>
              </a:rPr>
              <a:t>15주 강의계획 · 15주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481328"/>
            <a:ext cx="10972800" cy="2542032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1481328"/>
            <a:ext cx="54864" cy="2542032"/>
          </a:xfrm>
          <a:prstGeom prst="rect">
            <a:avLst/>
          </a:prstGeom>
          <a:solidFill>
            <a:srgbClr val="FF57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27632"/>
            <a:ext cx="1143000" cy="2286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6F2EE"/>
                </a:solidFill>
                <a:latin typeface="Consolas"/>
              </a:rPr>
              <a:t>15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F6B64"/>
                </a:solidFill>
                <a:latin typeface="Consolas"/>
              </a:rPr>
              <a:t>EXAM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20824" y="1609344"/>
            <a:ext cx="9326880" cy="232257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E6F2EE"/>
                </a:solidFill>
                <a:latin typeface="Malgun Gothic"/>
              </a:rPr>
              <a:t>보고서와 발표 — 내 데이터로 말하기</a:t>
            </a:r>
          </a:p>
          <a:p>
            <a:pPr>
              <a:lnSpc>
                <a:spcPct val="108000"/>
              </a:lnSpc>
              <a:spcBef>
                <a:spcPts val="700"/>
              </a:spcBef>
              <a:spcAft>
                <a:spcPts val="0"/>
              </a:spcAft>
            </a:pPr>
            <a:r>
              <a:rPr sz="1200" b="1">
                <a:solidFill>
                  <a:srgbClr val="FF5765"/>
                </a:solidFill>
                <a:latin typeface="Consolas"/>
              </a:rPr>
              <a:t>중간·기말   </a:t>
            </a:r>
            <a:r>
              <a:rPr sz="1200" b="0">
                <a:solidFill>
                  <a:srgbClr val="E6F2EE"/>
                </a:solidFill>
                <a:latin typeface="Malgun Gothic"/>
              </a:rPr>
              <a:t>최종 검증 보고서 + 발표. 필수 3요소 — ① 내 데이터는 어떻게 만들어졌는가(시드·판 수·라벨 기준) ② 분포 그림 1장 ③ 불확실성 문장 1개. 셋 중 하나라도 없으면 발표 상한 70%.</a:t>
            </a:r>
          </a:p>
          <a:p>
            <a:pPr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1">
                <a:solidFill>
                  <a:srgbClr val="FFCE86"/>
                </a:solidFill>
                <a:latin typeface="Consolas"/>
              </a:rPr>
              <a:t>▸ lab/data/*.csv + process_engine.py</a:t>
            </a:r>
            <a:r>
              <a:rPr sz="1100" b="0">
                <a:solidFill>
                  <a:srgbClr val="7D9B94"/>
                </a:solidFill>
                <a:latin typeface="Malgun Gothic"/>
              </a:rPr>
              <a:t>   최종 수율·순도·안전 등급으로 결과를 평가하되, 등급보다 그 등급을 어떻게 얻었는지를 검증합니다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84048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E0C8"/>
                </a:solidFill>
                <a:latin typeface="Consolas"/>
              </a:rPr>
              <a:t>난이도 원칙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6F2EE"/>
                </a:solidFill>
                <a:latin typeface="Malgun Gothic"/>
              </a:rPr>
              <a:t>층을 넘나들지 </a:t>
            </a:r>
            <a:r>
              <a:rPr sz="3000" b="1">
                <a:solidFill>
                  <a:srgbClr val="FFB049"/>
                </a:solidFill>
                <a:latin typeface="Malgun Gothic"/>
              </a:rPr>
              <a:t>않는다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98448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D9B94"/>
                </a:solidFill>
                <a:latin typeface="Malgun Gothic"/>
              </a:rPr>
              <a:t>통계가 과해지지 않도록 세 층으로 나눕니다. 이 규율이 이 과목의 중심입니다.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874519"/>
            <a:ext cx="10972800" cy="1152144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" y="1874519"/>
            <a:ext cx="54864" cy="1152144"/>
          </a:xfrm>
          <a:prstGeom prst="rect">
            <a:avLst/>
          </a:prstGeom>
          <a:solidFill>
            <a:srgbClr val="8AE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93391"/>
            <a:ext cx="1042416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AE65C"/>
                </a:solidFill>
                <a:latin typeface="Consolas"/>
              </a:rPr>
              <a:t>①   </a:t>
            </a:r>
            <a:r>
              <a:rPr sz="1600" b="1">
                <a:solidFill>
                  <a:srgbClr val="E6F2EE"/>
                </a:solidFill>
                <a:latin typeface="Malgun Gothic"/>
              </a:rPr>
              <a:t>직접 만든다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250" b="0">
                <a:solidFill>
                  <a:srgbClr val="7D9B94"/>
                </a:solidFill>
                <a:latin typeface="Malgun Gothic"/>
              </a:rPr>
              <a:t>합계 · 개수 · 평균 · 중앙값 · 표준편차 · 변동계수 · 도수분포표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4F6B64"/>
                </a:solidFill>
                <a:latin typeface="Malgun Gothic"/>
              </a:rPr>
              <a:t>학생이 엑셀로 한 번, 코드로 한 번 구하고  두 값이 같은지 확인합니다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3172968"/>
            <a:ext cx="10972800" cy="1152144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" y="3172968"/>
            <a:ext cx="54864" cy="1152144"/>
          </a:xfrm>
          <a:prstGeom prst="rect">
            <a:avLst/>
          </a:prstGeom>
          <a:solidFill>
            <a:srgbClr val="4D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91839"/>
            <a:ext cx="1042416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DB6FF"/>
                </a:solidFill>
                <a:latin typeface="Consolas"/>
              </a:rPr>
              <a:t>②   </a:t>
            </a:r>
            <a:r>
              <a:rPr sz="1600" b="1">
                <a:solidFill>
                  <a:srgbClr val="E6F2EE"/>
                </a:solidFill>
                <a:latin typeface="Malgun Gothic"/>
              </a:rPr>
              <a:t>눌러서 본다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250" b="0">
                <a:solidFill>
                  <a:srgbClr val="7D9B94"/>
                </a:solidFill>
                <a:latin typeface="Malgun Gothic"/>
              </a:rPr>
              <a:t>상자그림 · 관리도(X̄-R) · Cp/Cpk · 신뢰구간 · 이상치 판정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4F6B64"/>
                </a:solidFill>
                <a:latin typeface="Malgun Gothic"/>
              </a:rPr>
              <a:t>게임이 계산합니다. 관리선 = 평균±3σ, Cp = 규격폭÷6σ — 새 통계가 아닙니다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4471416"/>
            <a:ext cx="10972800" cy="1152144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" y="4471416"/>
            <a:ext cx="54864" cy="1152144"/>
          </a:xfrm>
          <a:prstGeom prst="rect">
            <a:avLst/>
          </a:prstGeom>
          <a:solidFill>
            <a:srgbClr val="B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590288"/>
            <a:ext cx="1042416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08CFF"/>
                </a:solidFill>
                <a:latin typeface="Consolas"/>
              </a:rPr>
              <a:t>③   </a:t>
            </a:r>
            <a:r>
              <a:rPr sz="1600" b="1">
                <a:solidFill>
                  <a:srgbClr val="E6F2EE"/>
                </a:solidFill>
                <a:latin typeface="Malgun Gothic"/>
              </a:rPr>
              <a:t>알아두기만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250" b="0">
                <a:solidFill>
                  <a:srgbClr val="7D9B94"/>
                </a:solidFill>
                <a:latin typeface="Malgun Gothic"/>
              </a:rPr>
              <a:t>p값의 정확한 의미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4F6B64"/>
                </a:solidFill>
                <a:latin typeface="Malgun Gothic"/>
              </a:rPr>
              <a:t>근거 문헌으로 ‘이런 것도 있다’ 정도만. 계산은 시키지 않습니다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" y="5852160"/>
            <a:ext cx="10972800" cy="749808"/>
          </a:xfrm>
          <a:prstGeom prst="roundRect">
            <a:avLst>
              <a:gd name="adj" fmla="val 5000"/>
            </a:avLst>
          </a:prstGeom>
          <a:solidFill>
            <a:srgbClr val="12281F"/>
          </a:solidFill>
          <a:ln w="12700">
            <a:solidFill>
              <a:srgbClr val="FF57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852160"/>
            <a:ext cx="10515600" cy="7498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5765"/>
                </a:solidFill>
                <a:latin typeface="Malgun Gothic"/>
              </a:rPr>
              <a:t>상관계수 · 회귀분석 · t검정은 다루지 않습니다. </a:t>
            </a:r>
            <a:r>
              <a:rPr sz="1300" b="0">
                <a:solidFill>
                  <a:srgbClr val="7D9B94"/>
                </a:solidFill>
                <a:latin typeface="Malgun Gothic"/>
              </a:rPr>
              <a:t>그 시간을 분포와 두 무리 비교에 씁니다 — 평생 쓸 통계는 대부분 이 둘입니다.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84048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E0C8"/>
                </a:solidFill>
                <a:latin typeface="Consolas"/>
              </a:rPr>
              <a:t>실습 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6F2EE"/>
                </a:solidFill>
                <a:latin typeface="Malgun Gothic"/>
              </a:rPr>
              <a:t>주차마다 </a:t>
            </a:r>
            <a:r>
              <a:rPr sz="3000" b="1">
                <a:solidFill>
                  <a:srgbClr val="FFB049"/>
                </a:solidFill>
                <a:latin typeface="Malgun Gothic"/>
              </a:rPr>
              <a:t>돌아가는 예제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98448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D9B94"/>
                </a:solidFill>
                <a:latin typeface="Malgun Gothic"/>
              </a:rPr>
              <a:t>교재가 아니라 실행되는 파일로 배웁니다. 예제는 전부 python 파일.py 로 끝까지 돕니다.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874519"/>
            <a:ext cx="5852160" cy="3200400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5394960" cy="2926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F6B64"/>
                </a:solidFill>
                <a:latin typeface="Consolas"/>
              </a:rPr>
              <a:t>폴더 구성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200" b="1">
                <a:solidFill>
                  <a:srgbClr val="FFCE86"/>
                </a:solidFill>
                <a:latin typeface="Consolas"/>
              </a:rPr>
              <a:t>lab/examples/weekNN/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0">
                <a:solidFill>
                  <a:srgbClr val="7D9B94"/>
                </a:solidFill>
                <a:latin typeface="Malgun Gothic"/>
              </a:rPr>
              <a:t>주차별 예제 52개 — 한 파일에 개념 하나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sz="1200" b="0">
                <a:solidFill>
                  <a:srgbClr val="4F6B64"/>
                </a:solidFill>
                <a:latin typeface="Consolas"/>
              </a:rPr>
              <a:t>  01_hello.py …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0">
                <a:solidFill>
                  <a:srgbClr val="7D9B94"/>
                </a:solidFill>
                <a:latin typeface="Malgun Gothic"/>
              </a:rPr>
              <a:t>번호 순서로 열면 됩니다. 파일마다 ‘이 파일이 하는 일’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sz="1200" b="0">
                <a:solidFill>
                  <a:srgbClr val="4F6B64"/>
                </a:solidFill>
                <a:latin typeface="Consolas"/>
              </a:rPr>
              <a:t>  README.md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0">
                <a:solidFill>
                  <a:srgbClr val="7D9B94"/>
                </a:solidFill>
                <a:latin typeface="Malgun Gothic"/>
              </a:rPr>
              <a:t>그 주의 목표·실습·과제 (강의계획서에서 자동 생성)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sz="1200" b="1">
                <a:solidFill>
                  <a:srgbClr val="FFCE86"/>
                </a:solidFill>
                <a:latin typeface="Consolas"/>
              </a:rPr>
              <a:t>lab/answers/weekNN/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0">
                <a:solidFill>
                  <a:srgbClr val="7D9B94"/>
                </a:solidFill>
                <a:latin typeface="Malgun Gothic"/>
              </a:rPr>
              <a:t>퀴즈 정답 52개 — 예제와 다른 폴더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sz="1200" b="1">
                <a:solidFill>
                  <a:srgbClr val="FFCE86"/>
                </a:solidFill>
                <a:latin typeface="Consolas"/>
              </a:rPr>
              <a:t>lab/w12_basic.py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0">
                <a:solidFill>
                  <a:srgbClr val="7D9B94"/>
                </a:solidFill>
                <a:latin typeface="Malgun Gothic"/>
              </a:rPr>
              <a:t>12주 빈칸 채우기 + check.py 한국어 채점기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sz="1200" b="1">
                <a:solidFill>
                  <a:srgbClr val="FFCE86"/>
                </a:solidFill>
                <a:latin typeface="Consolas"/>
              </a:rPr>
              <a:t>lab/data/ · figures/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0">
                <a:solidFill>
                  <a:srgbClr val="7D9B94"/>
                </a:solidFill>
                <a:latin typeface="Malgun Gothic"/>
              </a:rPr>
              <a:t>게임이 만든 CSV · 학생이 만든 그림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38544" y="1874519"/>
            <a:ext cx="4937760" cy="3200400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2011680"/>
            <a:ext cx="4480560" cy="2926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F6B64"/>
                </a:solidFill>
                <a:latin typeface="Consolas"/>
              </a:rPr>
              <a:t>예제의 규칙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1">
                <a:solidFill>
                  <a:srgbClr val="E6F2EE"/>
                </a:solidFill>
                <a:latin typeface="Malgun Gothic"/>
              </a:rPr>
              <a:t>· 1~6주에 import 가 없다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0">
                <a:solidFill>
                  <a:srgbClr val="7D9B94"/>
                </a:solidFill>
                <a:latin typeface="Malgun Gothic"/>
              </a:rPr>
              <a:t>   게임 소스를 예제 안에 그대로 옮겨 놓고 문법을 배웁니다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1">
                <a:solidFill>
                  <a:srgbClr val="E6F2EE"/>
                </a:solidFill>
                <a:latin typeface="Malgun Gothic"/>
              </a:rPr>
              <a:t>· import 는 7주에 처음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0">
                <a:solidFill>
                  <a:srgbClr val="7D9B94"/>
                </a:solidFill>
                <a:latin typeface="Malgun Gothic"/>
              </a:rPr>
              <a:t>   그 주 Python 주제가 ‘모듈과 호출 흐름’ 이기 때문입니다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1">
                <a:solidFill>
                  <a:srgbClr val="E6F2EE"/>
                </a:solidFill>
                <a:latin typeface="Malgun Gothic"/>
              </a:rPr>
              <a:t>· 변수는 영어, 키는 한글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0">
                <a:solidFill>
                  <a:srgbClr val="7D9B94"/>
                </a:solidFill>
                <a:latin typeface="Malgun Gothic"/>
              </a:rPr>
              <a:t>   budget = 1000  /  plant["예산"]  — 국제 표준과 게임 화면을 함께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1">
                <a:solidFill>
                  <a:srgbClr val="E6F2EE"/>
                </a:solidFill>
                <a:latin typeface="Malgun Gothic"/>
              </a:rPr>
              <a:t>· # %% 로 셀 실행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0">
                <a:solidFill>
                  <a:srgbClr val="7D9B94"/>
                </a:solidFill>
                <a:latin typeface="Malgun Gothic"/>
              </a:rPr>
              <a:t>   VS Code 에서 Shift+Enter. 파일은 평범한 .py 로 남습니다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5257800"/>
            <a:ext cx="10972800" cy="1234440"/>
          </a:xfrm>
          <a:prstGeom prst="roundRect">
            <a:avLst>
              <a:gd name="adj" fmla="val 5000"/>
            </a:avLst>
          </a:prstGeom>
          <a:solidFill>
            <a:srgbClr val="12281F"/>
          </a:solidFill>
          <a:ln w="12700">
            <a:solidFill>
              <a:srgbClr val="2C4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349240"/>
            <a:ext cx="10515600" cy="1051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8AE65C"/>
                </a:solidFill>
                <a:latin typeface="Malgun Gothic"/>
              </a:rPr>
              <a:t>파일마다 맨 아래에 퀴즈 2문항</a:t>
            </a:r>
            <a:r>
              <a:rPr sz="1350" b="0">
                <a:solidFill>
                  <a:srgbClr val="7D9B94"/>
                </a:solidFill>
                <a:latin typeface="Malgun Gothic"/>
              </a:rPr>
              <a:t>  ·  정답은 lab/answers/weekNN/ 에 따로 둡니다 (옆에 있으면 안 풀어 봅니다)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7D9B94"/>
                </a:solidFill>
                <a:latin typeface="Malgun Gothic"/>
              </a:rPr>
              <a:t>머리말에는 ‘이 파일이 하는 일’ · ‘이 코드는 게임의 어느 소스와 관련 있나’ · ‘앞에서 배운 것 중 여기서 다시 쓰는 것’ 이 자동으로 적힙니다.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84048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E0C8"/>
                </a:solidFill>
                <a:latin typeface="Consolas"/>
              </a:rPr>
              <a:t>실습 소스코드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6F2EE"/>
                </a:solidFill>
                <a:latin typeface="Malgun Gothic"/>
              </a:rPr>
              <a:t>수업에서 다루는 </a:t>
            </a:r>
            <a:r>
              <a:rPr sz="3000" b="1">
                <a:solidFill>
                  <a:srgbClr val="FFB049"/>
                </a:solidFill>
                <a:latin typeface="Malgun Gothic"/>
              </a:rPr>
              <a:t>실제 코드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1732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7D9B94"/>
                </a:solidFill>
                <a:latin typeface="Malgun Gothic"/>
              </a:rPr>
              <a:t>교재가 아니라, 동작하는 dkYield99% 소스코드를 그대로 교보재로 사용합니다.  [편집] = 학생이 직접 고치는 파일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920240"/>
            <a:ext cx="5349240" cy="2148840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" y="1920240"/>
            <a:ext cx="54864" cy="2148840"/>
          </a:xfrm>
          <a:prstGeom prst="rect">
            <a:avLst/>
          </a:prstGeom>
          <a:solidFill>
            <a:srgbClr val="FFB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066544"/>
            <a:ext cx="4892040" cy="18928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6F2EE"/>
                </a:solidFill>
                <a:latin typeface="Malgun Gothic"/>
              </a:rPr>
              <a:t>공정 카드 묶음   </a:t>
            </a:r>
            <a:r>
              <a:rPr sz="1400" b="1">
                <a:solidFill>
                  <a:srgbClr val="FFB049"/>
                </a:solidFill>
                <a:latin typeface="Consolas"/>
              </a:rPr>
              <a:t>CARDS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4F6B64"/>
                </a:solidFill>
                <a:latin typeface="Malgun Gothic"/>
              </a:rPr>
              <a:t>server/app/cards/ — 학생이 직접 고치는 영역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FFCE86"/>
                </a:solidFill>
                <a:latin typeface="Consolas"/>
              </a:rPr>
              <a:t>cards_data.py</a:t>
            </a:r>
            <a:r>
              <a:rPr sz="1050" b="1">
                <a:solidFill>
                  <a:srgbClr val="8AE65C"/>
                </a:solidFill>
                <a:latin typeface="Consolas"/>
              </a:rPr>
              <a:t>  [편집]</a:t>
            </a:r>
            <a:r>
              <a:rPr sz="1050" b="0">
                <a:solidFill>
                  <a:srgbClr val="7D9B94"/>
                </a:solidFill>
                <a:latin typeface="Malgun Gothic"/>
              </a:rPr>
              <a:t>   — 운전·설비·R&amp;D 카드 20장 정의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FFCE86"/>
                </a:solidFill>
                <a:latin typeface="Consolas"/>
              </a:rPr>
              <a:t>card_schema.py</a:t>
            </a:r>
            <a:r>
              <a:rPr sz="1050" b="0">
                <a:solidFill>
                  <a:srgbClr val="7D9B94"/>
                </a:solidFill>
                <a:latin typeface="Malgun Gothic"/>
              </a:rPr>
              <a:t>   — 규칙 검사·한국어 오류 안내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FFCE86"/>
                </a:solidFill>
                <a:latin typeface="Consolas"/>
              </a:rPr>
              <a:t>__init__.py</a:t>
            </a:r>
            <a:r>
              <a:rPr sz="1050" b="0">
                <a:solidFill>
                  <a:srgbClr val="7D9B94"/>
                </a:solidFill>
                <a:latin typeface="Malgun Gothic"/>
              </a:rPr>
              <a:t>   — 검증된 카드를 엔진에 전달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FFCE86"/>
                </a:solidFill>
                <a:latin typeface="Consolas"/>
              </a:rPr>
              <a:t>README.md</a:t>
            </a:r>
            <a:r>
              <a:rPr sz="1050" b="0">
                <a:solidFill>
                  <a:srgbClr val="7D9B94"/>
                </a:solidFill>
                <a:latin typeface="Malgun Gothic"/>
              </a:rPr>
              <a:t>   — 초보자용 카드 편집 안내서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1920240"/>
            <a:ext cx="5349240" cy="2148840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27064" y="1920240"/>
            <a:ext cx="54864" cy="2148840"/>
          </a:xfrm>
          <a:prstGeom prst="rect">
            <a:avLst/>
          </a:prstGeom>
          <a:solidFill>
            <a:srgbClr val="4D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3096" y="2066544"/>
            <a:ext cx="4892040" cy="18928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6F2EE"/>
                </a:solidFill>
                <a:latin typeface="Malgun Gothic"/>
              </a:rPr>
              <a:t>공정 엔진   </a:t>
            </a:r>
            <a:r>
              <a:rPr sz="1400" b="1">
                <a:solidFill>
                  <a:srgbClr val="4DB6FF"/>
                </a:solidFill>
                <a:latin typeface="Consolas"/>
              </a:rPr>
              <a:t>ENGINE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4F6B64"/>
                </a:solidFill>
                <a:latin typeface="Malgun Gothic"/>
              </a:rPr>
              <a:t>server/app/engine/ — 파이썬 기초 총집합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FFCE86"/>
                </a:solidFill>
                <a:latin typeface="Consolas"/>
              </a:rPr>
              <a:t>new_plant()</a:t>
            </a:r>
            <a:r>
              <a:rPr sz="1050" b="0">
                <a:solidFill>
                  <a:srgbClr val="7D9B94"/>
                </a:solidFill>
                <a:latin typeface="Malgun Gothic"/>
              </a:rPr>
              <a:t>   — 공정 지표 변수 초기 정의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FFCE86"/>
                </a:solidFill>
                <a:latin typeface="Consolas"/>
              </a:rPr>
              <a:t>apply_effect()</a:t>
            </a:r>
            <a:r>
              <a:rPr sz="1050" b="0">
                <a:solidFill>
                  <a:srgbClr val="7D9B94"/>
                </a:solidFill>
                <a:latin typeface="Malgun Gothic"/>
              </a:rPr>
              <a:t>   — 효과 적용 for + if 조건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FFCE86"/>
                </a:solidFill>
                <a:latin typeface="Consolas"/>
              </a:rPr>
              <a:t>enact_card()</a:t>
            </a:r>
            <a:r>
              <a:rPr sz="1050" b="0">
                <a:solidFill>
                  <a:srgbClr val="7D9B94"/>
                </a:solidFill>
                <a:latin typeface="Malgun Gothic"/>
              </a:rPr>
              <a:t>   — 예산·설비 if로 시행 판단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FFCE86"/>
                </a:solidFill>
                <a:latin typeface="Consolas"/>
              </a:rPr>
              <a:t>calculate_yield()</a:t>
            </a:r>
            <a:r>
              <a:rPr sz="1050" b="1">
                <a:solidFill>
                  <a:srgbClr val="8AE65C"/>
                </a:solidFill>
                <a:latin typeface="Consolas"/>
              </a:rPr>
              <a:t>  [편집]</a:t>
            </a:r>
            <a:r>
              <a:rPr sz="1050" b="0">
                <a:solidFill>
                  <a:srgbClr val="7D9B94"/>
                </a:solidFill>
                <a:latin typeface="Malgun Gothic"/>
              </a:rPr>
              <a:t>   — 수율=전환율×선택도×회수율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FFCE86"/>
                </a:solidFill>
                <a:latin typeface="Consolas"/>
              </a:rPr>
              <a:t>end_turn()·evaluate_ending()</a:t>
            </a:r>
            <a:r>
              <a:rPr sz="1050" b="0">
                <a:solidFill>
                  <a:srgbClr val="7D9B94"/>
                </a:solidFill>
                <a:latin typeface="Malgun Gothic"/>
              </a:rPr>
              <a:t>   — 월 정산·최종 등급 평가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4270248"/>
            <a:ext cx="5349240" cy="2148840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" y="4270248"/>
            <a:ext cx="54864" cy="2148840"/>
          </a:xfrm>
          <a:prstGeom prst="rect">
            <a:avLst/>
          </a:prstGeom>
          <a:solidFill>
            <a:srgbClr val="B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4416552"/>
            <a:ext cx="4892040" cy="18928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6F2EE"/>
                </a:solidFill>
                <a:latin typeface="Malgun Gothic"/>
              </a:rPr>
              <a:t>데이터 실습실   </a:t>
            </a:r>
            <a:r>
              <a:rPr sz="1400" b="1">
                <a:solidFill>
                  <a:srgbClr val="B08CFF"/>
                </a:solidFill>
                <a:latin typeface="Consolas"/>
              </a:rPr>
              <a:t>LAB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4F6B64"/>
                </a:solidFill>
                <a:latin typeface="Malgun Gothic"/>
              </a:rPr>
              <a:t>lab/ — 9주부터 직접 데이터를 만들고 계산하는 곳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FFCE86"/>
                </a:solidFill>
                <a:latin typeface="Consolas"/>
              </a:rPr>
              <a:t>w12_basic.py</a:t>
            </a:r>
            <a:r>
              <a:rPr sz="1050" b="1">
                <a:solidFill>
                  <a:srgbClr val="8AE65C"/>
                </a:solidFill>
                <a:latin typeface="Consolas"/>
              </a:rPr>
              <a:t>  [편집]</a:t>
            </a:r>
            <a:r>
              <a:rPr sz="1050" b="0">
                <a:solidFill>
                  <a:srgbClr val="7D9B94"/>
                </a:solidFill>
                <a:latin typeface="Malgun Gothic"/>
              </a:rPr>
              <a:t>   — 평균·표준편차·변동계수 직접 구현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FFCE86"/>
                </a:solidFill>
                <a:latin typeface="Consolas"/>
              </a:rPr>
              <a:t>check.py</a:t>
            </a:r>
            <a:r>
              <a:rPr sz="1050" b="0">
                <a:solidFill>
                  <a:srgbClr val="7D9B94"/>
                </a:solidFill>
                <a:latin typeface="Malgun Gothic"/>
              </a:rPr>
              <a:t>   — 무엇이 왜 틀렸는지 한국어로 알려주는 채점기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FFCE86"/>
                </a:solidFill>
                <a:latin typeface="Consolas"/>
              </a:rPr>
              <a:t>run_batch.py</a:t>
            </a:r>
            <a:r>
              <a:rPr sz="1050" b="0">
                <a:solidFill>
                  <a:srgbClr val="7D9B94"/>
                </a:solidFill>
                <a:latin typeface="Malgun Gothic"/>
              </a:rPr>
              <a:t>   — 시드를 바꿔 여러 판 자동 실행 → CSV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FFCE86"/>
                </a:solidFill>
                <a:latin typeface="Consolas"/>
              </a:rPr>
              <a:t>w12_chart.py</a:t>
            </a:r>
            <a:r>
              <a:rPr sz="1050" b="1">
                <a:solidFill>
                  <a:srgbClr val="8AE65C"/>
                </a:solidFill>
                <a:latin typeface="Consolas"/>
              </a:rPr>
              <a:t>  [편집]</a:t>
            </a:r>
            <a:r>
              <a:rPr sz="1050" b="0">
                <a:solidFill>
                  <a:srgbClr val="7D9B94"/>
                </a:solidFill>
                <a:latin typeface="Malgun Gothic"/>
              </a:rPr>
              <a:t>   — matplotlib 그림 1장 + pandas 맛보기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FFCE86"/>
                </a:solidFill>
                <a:latin typeface="Consolas"/>
              </a:rPr>
              <a:t>data/*.csv</a:t>
            </a:r>
            <a:r>
              <a:rPr sz="1050" b="0">
                <a:solidFill>
                  <a:srgbClr val="7D9B94"/>
                </a:solidFill>
                <a:latin typeface="Malgun Gothic"/>
              </a:rPr>
              <a:t>   — 저장한 판과 같은 이름으로 쌓이는 분석 재료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7064" y="4270248"/>
            <a:ext cx="5349240" cy="2148840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27064" y="4270248"/>
            <a:ext cx="54864" cy="2148840"/>
          </a:xfrm>
          <a:prstGeom prst="rect">
            <a:avLst/>
          </a:prstGeom>
          <a:solidFill>
            <a:srgbClr val="2F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3096" y="4416552"/>
            <a:ext cx="4892040" cy="18928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6F2EE"/>
                </a:solidFill>
                <a:latin typeface="Malgun Gothic"/>
              </a:rPr>
              <a:t>게임 서버·화면   </a:t>
            </a:r>
            <a:r>
              <a:rPr sz="1400" b="1">
                <a:solidFill>
                  <a:srgbClr val="2FE0C8"/>
                </a:solidFill>
                <a:latin typeface="Consolas"/>
              </a:rPr>
              <a:t>SERVER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4F6B64"/>
                </a:solidFill>
                <a:latin typeface="Malgun Gothic"/>
              </a:rPr>
              <a:t>server/ · web/ — 권위형 서버와 3D 프론트엔드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FFCE86"/>
                </a:solidFill>
                <a:latin typeface="Consolas"/>
              </a:rPr>
              <a:t>app/main.py</a:t>
            </a:r>
            <a:r>
              <a:rPr sz="1050" b="0">
                <a:solidFill>
                  <a:srgbClr val="7D9B94"/>
                </a:solidFill>
                <a:latin typeface="Malgun Gothic"/>
              </a:rPr>
              <a:t>   — FastAPI API(새 공정·카드·턴 종료·저장·통계)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FFCE86"/>
                </a:solidFill>
                <a:latin typeface="Consolas"/>
              </a:rPr>
              <a:t>app/statistics_lab.py</a:t>
            </a:r>
            <a:r>
              <a:rPr sz="1050" b="0">
                <a:solidFill>
                  <a:srgbClr val="7D9B94"/>
                </a:solidFill>
                <a:latin typeface="Malgun Gothic"/>
              </a:rPr>
              <a:t>   — 관리도·Cp/Cpk·비교와 한국어 해석문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FFCE86"/>
                </a:solidFill>
                <a:latin typeface="Consolas"/>
              </a:rPr>
              <a:t>web/src/panels.js</a:t>
            </a:r>
            <a:r>
              <a:rPr sz="1050" b="0">
                <a:solidFill>
                  <a:srgbClr val="7D9B94"/>
                </a:solidFill>
                <a:latin typeface="Malgun Gothic"/>
              </a:rPr>
              <a:t>   — 📊 통계 지표 보기 다이얼로그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FFCE86"/>
                </a:solidFill>
                <a:latin typeface="Consolas"/>
              </a:rPr>
              <a:t>web/src/flowsheet.js</a:t>
            </a:r>
            <a:r>
              <a:rPr sz="1050" b="0">
                <a:solidFill>
                  <a:srgbClr val="7D9B94"/>
                </a:solidFill>
                <a:latin typeface="Malgun Gothic"/>
              </a:rPr>
              <a:t>   — Three.js 3D 공정 플로우시트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84048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E0C8"/>
                </a:solidFill>
                <a:latin typeface="Consolas"/>
              </a:rPr>
              <a:t>평가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6F2EE"/>
                </a:solidFill>
                <a:latin typeface="Malgun Gothic"/>
              </a:rPr>
              <a:t>성적 </a:t>
            </a:r>
            <a:r>
              <a:rPr sz="3000" b="1">
                <a:solidFill>
                  <a:srgbClr val="FFB049"/>
                </a:solidFill>
                <a:latin typeface="Malgun Gothic"/>
              </a:rPr>
              <a:t>평가 비중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1732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D9B94"/>
                </a:solidFill>
                <a:latin typeface="Malgun Gothic"/>
              </a:rPr>
              <a:t>시험 암기가 아니라, 직접 만든 공정과 그 시뮬레이션 결과로 평가합니다.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0847" y="2194560"/>
            <a:ext cx="2103120" cy="2377440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0847" y="2468880"/>
            <a:ext cx="210312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B049"/>
                </a:solidFill>
                <a:latin typeface="Consolas"/>
              </a:rPr>
              <a:t>25%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847" y="3383280"/>
            <a:ext cx="2103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6F2EE"/>
                </a:solidFill>
                <a:latin typeface="Malgun Gothic"/>
              </a:rPr>
              <a:t>주간 코드·공정 실습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007" y="3840480"/>
            <a:ext cx="1828799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D9B94"/>
                </a:solidFill>
                <a:latin typeface="Malgun Gothic"/>
              </a:rPr>
              <a:t>매주 실행되는 파일 + 3문장 노트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12567" y="2194560"/>
            <a:ext cx="2103120" cy="2377440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12567" y="2468880"/>
            <a:ext cx="210312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B049"/>
                </a:solidFill>
                <a:latin typeface="Consolas"/>
              </a:rPr>
              <a:t>15%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2567" y="3383280"/>
            <a:ext cx="2103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6F2EE"/>
                </a:solidFill>
                <a:latin typeface="Malgun Gothic"/>
              </a:rPr>
              <a:t>중간 공정팩 + 데이터셋 설명서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49727" y="3840480"/>
            <a:ext cx="1828799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D9B94"/>
                </a:solidFill>
                <a:latin typeface="Malgun Gothic"/>
              </a:rPr>
              <a:t>공정 카드 5종 설계 · 내 데이터가 만들어진 방법 1쪽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4287" y="2194560"/>
            <a:ext cx="2103120" cy="2377440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4287" y="2468880"/>
            <a:ext cx="210312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B049"/>
                </a:solidFill>
                <a:latin typeface="Consolas"/>
              </a:rPr>
              <a:t>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4287" y="3383280"/>
            <a:ext cx="2103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6F2EE"/>
                </a:solidFill>
                <a:latin typeface="Malgun Gothic"/>
              </a:rPr>
              <a:t>데이터 분석 포트폴리오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1447" y="3840480"/>
            <a:ext cx="1828799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D9B94"/>
                </a:solidFill>
                <a:latin typeface="Malgun Gothic"/>
              </a:rPr>
              <a:t>9~14주 반복실험 · 표 · 그림 모음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76007" y="2194560"/>
            <a:ext cx="2103120" cy="2377440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76007" y="2468880"/>
            <a:ext cx="210312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B049"/>
                </a:solidFill>
                <a:latin typeface="Consolas"/>
              </a:rPr>
              <a:t>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6007" y="3383280"/>
            <a:ext cx="2103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6F2EE"/>
                </a:solidFill>
                <a:latin typeface="Malgun Gothic"/>
              </a:rPr>
              <a:t>최종 검증 보고서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3167" y="3840480"/>
            <a:ext cx="1828799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D9B94"/>
                </a:solidFill>
                <a:latin typeface="Malgun Gothic"/>
              </a:rPr>
              <a:t>공정 진단 · 근거 · 불확실성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07727" y="2194560"/>
            <a:ext cx="2103120" cy="2377440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07727" y="2468880"/>
            <a:ext cx="210312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B049"/>
                </a:solidFill>
                <a:latin typeface="Consolas"/>
              </a:rPr>
              <a:t>10%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07727" y="3383280"/>
            <a:ext cx="2103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6F2EE"/>
                </a:solidFill>
                <a:latin typeface="Malgun Gothic"/>
              </a:rPr>
              <a:t>발표·토론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44887" y="3840480"/>
            <a:ext cx="1828799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D9B94"/>
                </a:solidFill>
                <a:latin typeface="Malgun Gothic"/>
              </a:rPr>
              <a:t>결과와 그 한계를 함께 말하기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84048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E0C8"/>
                </a:solidFill>
                <a:latin typeface="Consolas"/>
              </a:rPr>
              <a:t>기말 프로젝트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6F2EE"/>
                </a:solidFill>
                <a:latin typeface="Malgun Gothic"/>
              </a:rPr>
              <a:t>나만의 </a:t>
            </a:r>
            <a:r>
              <a:rPr sz="3000" b="1">
                <a:solidFill>
                  <a:srgbClr val="FFB049"/>
                </a:solidFill>
                <a:latin typeface="Malgun Gothic"/>
              </a:rPr>
              <a:t>공정·카드팩 설계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645920"/>
            <a:ext cx="10972800" cy="1188720"/>
          </a:xfrm>
          <a:prstGeom prst="roundRect">
            <a:avLst>
              <a:gd name="adj" fmla="val 5000"/>
            </a:avLst>
          </a:prstGeom>
          <a:solidFill>
            <a:srgbClr val="12281F"/>
          </a:solidFill>
          <a:ln w="12700">
            <a:solidFill>
              <a:srgbClr val="2C4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3272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6F2EE"/>
                </a:solidFill>
                <a:latin typeface="Malgun Gothic"/>
              </a:rPr>
              <a:t>“수율 99%에 도전하라” — 공정 시뮬레이션 캡스톤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300" b="0">
                <a:solidFill>
                  <a:srgbClr val="7D9B94"/>
                </a:solidFill>
                <a:latin typeface="Malgun Gothic"/>
              </a:rPr>
              <a:t>자신만의 공정 시나리오와 카드팩(8~10종)을 Python으로 설계하고, dkYield99%로 12개월 운영을 시뮬레이션해 공정 보고서로 제출·발표한다.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995" y="3200400"/>
            <a:ext cx="2651760" cy="2468880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1995" y="3200400"/>
            <a:ext cx="2651760" cy="64008"/>
          </a:xfrm>
          <a:prstGeom prst="rect">
            <a:avLst/>
          </a:prstGeom>
          <a:solidFill>
            <a:srgbClr val="B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595" y="3429000"/>
            <a:ext cx="2194560" cy="2103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8CFF"/>
                </a:solidFill>
                <a:latin typeface="Consolas"/>
              </a:rPr>
              <a:t>STEP 1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600" b="1">
                <a:solidFill>
                  <a:srgbClr val="E6F2EE"/>
                </a:solidFill>
                <a:latin typeface="Malgun Gothic"/>
              </a:rPr>
              <a:t>공정 진단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7D9B94"/>
                </a:solidFill>
                <a:latin typeface="Malgun Gothic"/>
              </a:rPr>
              <a:t>해결할 문제 정의(저수율·낮은 순도·높은 에너지비)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20643" y="3200400"/>
            <a:ext cx="2651760" cy="2468880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20643" y="3200400"/>
            <a:ext cx="2651760" cy="64008"/>
          </a:xfrm>
          <a:prstGeom prst="rect">
            <a:avLst/>
          </a:prstGeom>
          <a:solidFill>
            <a:srgbClr val="B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9243" y="3429000"/>
            <a:ext cx="2194560" cy="2103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8CFF"/>
                </a:solidFill>
                <a:latin typeface="Consolas"/>
              </a:rPr>
              <a:t>STEP 2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600" b="1">
                <a:solidFill>
                  <a:srgbClr val="E6F2EE"/>
                </a:solidFill>
                <a:latin typeface="Malgun Gothic"/>
              </a:rPr>
              <a:t>카드 설계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7D9B94"/>
                </a:solidFill>
                <a:latin typeface="Malgun Gothic"/>
              </a:rPr>
              <a:t>카드팩 작성 · 효과/부작용/시너지 균형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9291" y="3200400"/>
            <a:ext cx="2651760" cy="2468880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9291" y="3200400"/>
            <a:ext cx="2651760" cy="64008"/>
          </a:xfrm>
          <a:prstGeom prst="rect">
            <a:avLst/>
          </a:prstGeom>
          <a:solidFill>
            <a:srgbClr val="B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7891" y="3429000"/>
            <a:ext cx="2194560" cy="2103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8CFF"/>
                </a:solidFill>
                <a:latin typeface="Consolas"/>
              </a:rPr>
              <a:t>STEP 3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600" b="1">
                <a:solidFill>
                  <a:srgbClr val="E6F2EE"/>
                </a:solidFill>
                <a:latin typeface="Malgun Gothic"/>
              </a:rPr>
              <a:t>시뮬레이션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7D9B94"/>
                </a:solidFill>
                <a:latin typeface="Malgun Gothic"/>
              </a:rPr>
              <a:t>12개월 운영 · 수율·순도·이익·안전 추이 분석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17939" y="3200400"/>
            <a:ext cx="2651760" cy="2468880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17939" y="3200400"/>
            <a:ext cx="2651760" cy="64008"/>
          </a:xfrm>
          <a:prstGeom prst="rect">
            <a:avLst/>
          </a:prstGeom>
          <a:solidFill>
            <a:srgbClr val="B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6539" y="3429000"/>
            <a:ext cx="2194560" cy="2103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8CFF"/>
                </a:solidFill>
                <a:latin typeface="Consolas"/>
              </a:rPr>
              <a:t>STEP 4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600" b="1">
                <a:solidFill>
                  <a:srgbClr val="E6F2EE"/>
                </a:solidFill>
                <a:latin typeface="Malgun Gothic"/>
              </a:rPr>
              <a:t>공정 보고서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7D9B94"/>
                </a:solidFill>
                <a:latin typeface="Malgun Gothic"/>
              </a:rPr>
              <a:t>의사결정 근거·트레이드오프 발표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84048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E0C8"/>
                </a:solidFill>
                <a:latin typeface="Consolas"/>
              </a:rPr>
              <a:t>수업 환경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6F2EE"/>
                </a:solidFill>
                <a:latin typeface="Malgun Gothic"/>
              </a:rPr>
              <a:t>필요한 </a:t>
            </a:r>
            <a:r>
              <a:rPr sz="3000" b="1">
                <a:solidFill>
                  <a:srgbClr val="FFB049"/>
                </a:solidFill>
                <a:latin typeface="Malgun Gothic"/>
              </a:rPr>
              <a:t>도구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2287" y="20116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887" y="2148840"/>
            <a:ext cx="2148840" cy="11887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6F2EE"/>
                </a:solidFill>
                <a:latin typeface="Malgun Gothic"/>
              </a:rPr>
              <a:t>Python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250" b="0">
                <a:solidFill>
                  <a:srgbClr val="7D9B94"/>
                </a:solidFill>
                <a:latin typeface="Malgun Gothic"/>
              </a:rPr>
              <a:t>따로 설치 안 함 — 배포본에 포함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2647" y="20116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81247" y="2148840"/>
            <a:ext cx="2148840" cy="11887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6F2EE"/>
                </a:solidFill>
                <a:latin typeface="Malgun Gothic"/>
              </a:rPr>
              <a:t>VS Code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250" b="0">
                <a:solidFill>
                  <a:srgbClr val="7D9B94"/>
                </a:solidFill>
                <a:latin typeface="Malgun Gothic"/>
              </a:rPr>
              <a:t>코드 편집기 (무료)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20116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607" y="2148840"/>
            <a:ext cx="2148840" cy="11887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6F2EE"/>
                </a:solidFill>
                <a:latin typeface="Malgun Gothic"/>
              </a:rPr>
              <a:t>확장 2개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250" b="0">
                <a:solidFill>
                  <a:srgbClr val="7D9B94"/>
                </a:solidFill>
                <a:latin typeface="Malgun Gothic"/>
              </a:rPr>
              <a:t>ms-python.python · ms-toolsai.jupyter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13367" y="20116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0E1F1D"/>
          </a:solidFill>
          <a:ln w="12700">
            <a:solidFill>
              <a:srgbClr val="2A4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41967" y="2148840"/>
            <a:ext cx="2148840" cy="11887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6F2EE"/>
                </a:solidFill>
                <a:latin typeface="Malgun Gothic"/>
              </a:rPr>
              <a:t>웹 브라우저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250" b="0">
                <a:solidFill>
                  <a:srgbClr val="7D9B94"/>
                </a:solidFill>
                <a:latin typeface="Malgun Gothic"/>
              </a:rPr>
              <a:t>게임 실행 · 통계 화면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4023360"/>
            <a:ext cx="10972800" cy="2011680"/>
          </a:xfrm>
          <a:prstGeom prst="roundRect">
            <a:avLst>
              <a:gd name="adj" fmla="val 5000"/>
            </a:avLst>
          </a:prstGeom>
          <a:solidFill>
            <a:srgbClr val="12281F"/>
          </a:solidFill>
          <a:ln w="12700">
            <a:solidFill>
              <a:srgbClr val="1C4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4023360"/>
            <a:ext cx="10972800" cy="2011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2FE0C8"/>
                </a:solidFill>
                <a:latin typeface="Malgun Gothic"/>
              </a:rPr>
              <a:t>dkYield99%</a:t>
            </a:r>
          </a:p>
          <a:p>
            <a:pPr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700" b="1">
                <a:solidFill>
                  <a:srgbClr val="E6F2EE"/>
                </a:solidFill>
                <a:latin typeface="Malgun Gothic"/>
              </a:rPr>
              <a:t>Python을 배우면서, 데이터를 스스로 만들고 그 숫자를 직접 계산해 의심할 줄 아는 엔지니어가 된다.</a:t>
            </a:r>
          </a:p>
          <a:p>
            <a:pPr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300" b="0">
                <a:solidFill>
                  <a:srgbClr val="7D9B94"/>
                </a:solidFill>
                <a:latin typeface="Consolas"/>
              </a:rPr>
              <a:t>AI 시대에 대체되지 않는 엔지니어는, 그런 사람입니다.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